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 id="2147483673" r:id="rId5"/>
    <p:sldMasterId id="2147483697" r:id="rId6"/>
  </p:sldMasterIdLst>
  <p:notesMasterIdLst>
    <p:notesMasterId r:id="rId27"/>
  </p:notesMasterIdLst>
  <p:sldIdLst>
    <p:sldId id="380" r:id="rId7"/>
    <p:sldId id="381" r:id="rId8"/>
    <p:sldId id="396" r:id="rId9"/>
    <p:sldId id="397" r:id="rId10"/>
    <p:sldId id="398" r:id="rId11"/>
    <p:sldId id="399" r:id="rId12"/>
    <p:sldId id="384" r:id="rId13"/>
    <p:sldId id="400" r:id="rId14"/>
    <p:sldId id="401" r:id="rId15"/>
    <p:sldId id="402" r:id="rId16"/>
    <p:sldId id="382" r:id="rId17"/>
    <p:sldId id="403" r:id="rId18"/>
    <p:sldId id="404" r:id="rId19"/>
    <p:sldId id="405" r:id="rId20"/>
    <p:sldId id="406" r:id="rId21"/>
    <p:sldId id="407" r:id="rId22"/>
    <p:sldId id="408" r:id="rId23"/>
    <p:sldId id="409" r:id="rId24"/>
    <p:sldId id="392" r:id="rId25"/>
    <p:sldId id="39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4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D7D"/>
    <a:srgbClr val="D2A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03" autoAdjust="0"/>
    <p:restoredTop sz="95256" autoAdjust="0"/>
  </p:normalViewPr>
  <p:slideViewPr>
    <p:cSldViewPr snapToGrid="0" showGuides="1">
      <p:cViewPr varScale="1">
        <p:scale>
          <a:sx n="105" d="100"/>
          <a:sy n="105" d="100"/>
        </p:scale>
        <p:origin x="942" y="114"/>
      </p:cViewPr>
      <p:guideLst>
        <p:guide orient="horz" pos="2544"/>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11/3/2022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‹Nº›</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그림 개체 틀 2">
            <a:extLst>
              <a:ext uri="{FF2B5EF4-FFF2-40B4-BE49-F238E27FC236}">
                <a16:creationId xmlns:a16="http://schemas.microsoft.com/office/drawing/2014/main" id="{CBB24084-5D13-40D7-B877-E47BE1E73BBF}"/>
              </a:ext>
            </a:extLst>
          </p:cNvPr>
          <p:cNvSpPr>
            <a:spLocks noGrp="1"/>
          </p:cNvSpPr>
          <p:nvPr>
            <p:ph type="pic" sz="quarter" idx="14" hasCustomPrompt="1"/>
          </p:nvPr>
        </p:nvSpPr>
        <p:spPr>
          <a:xfrm>
            <a:off x="902288" y="2064492"/>
            <a:ext cx="2955610" cy="3753256"/>
          </a:xfrm>
          <a:prstGeom prst="rect">
            <a:avLst/>
          </a:prstGeom>
          <a:solidFill>
            <a:schemeClr val="bg1">
              <a:lumMod val="95000"/>
            </a:schemeClr>
          </a:solidFill>
          <a:ln w="12700">
            <a:gradFill>
              <a:gsLst>
                <a:gs pos="0">
                  <a:schemeClr val="bg1">
                    <a:alpha val="59000"/>
                  </a:schemeClr>
                </a:gs>
                <a:gs pos="100000">
                  <a:schemeClr val="bg1">
                    <a:alpha val="17000"/>
                  </a:schemeClr>
                </a:gs>
              </a:gsLst>
              <a:lin ang="7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grpSp>
        <p:nvGrpSpPr>
          <p:cNvPr id="5" name="Group 3">
            <a:extLst>
              <a:ext uri="{FF2B5EF4-FFF2-40B4-BE49-F238E27FC236}">
                <a16:creationId xmlns:a16="http://schemas.microsoft.com/office/drawing/2014/main" id="{54A41B6F-0B5A-4314-8E6A-AA3960BCF10F}"/>
              </a:ext>
            </a:extLst>
          </p:cNvPr>
          <p:cNvGrpSpPr/>
          <p:nvPr userDrawn="1"/>
        </p:nvGrpSpPr>
        <p:grpSpPr>
          <a:xfrm>
            <a:off x="729449" y="1780758"/>
            <a:ext cx="2449180" cy="4305530"/>
            <a:chOff x="445712" y="1449040"/>
            <a:chExt cx="2113018" cy="3924176"/>
          </a:xfrm>
        </p:grpSpPr>
        <p:sp>
          <p:nvSpPr>
            <p:cNvPr id="6" name="Rounded Rectangle 4">
              <a:extLst>
                <a:ext uri="{FF2B5EF4-FFF2-40B4-BE49-F238E27FC236}">
                  <a16:creationId xmlns:a16="http://schemas.microsoft.com/office/drawing/2014/main" id="{703E15B8-6CE8-4239-8540-4DB466536A91}"/>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Rectangle 5">
              <a:extLst>
                <a:ext uri="{FF2B5EF4-FFF2-40B4-BE49-F238E27FC236}">
                  <a16:creationId xmlns:a16="http://schemas.microsoft.com/office/drawing/2014/main" id="{39CA128A-BAAF-43EE-A61E-48F072F23C46}"/>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8" name="Group 6">
              <a:extLst>
                <a:ext uri="{FF2B5EF4-FFF2-40B4-BE49-F238E27FC236}">
                  <a16:creationId xmlns:a16="http://schemas.microsoft.com/office/drawing/2014/main" id="{9AFF85CE-C02B-4B53-AFD3-06E942BAC819}"/>
                </a:ext>
              </a:extLst>
            </p:cNvPr>
            <p:cNvGrpSpPr/>
            <p:nvPr userDrawn="1"/>
          </p:nvGrpSpPr>
          <p:grpSpPr>
            <a:xfrm>
              <a:off x="1407705" y="5045834"/>
              <a:ext cx="211967" cy="211967"/>
              <a:chOff x="1549420" y="5712364"/>
              <a:chExt cx="312583" cy="312583"/>
            </a:xfrm>
          </p:grpSpPr>
          <p:sp>
            <p:nvSpPr>
              <p:cNvPr id="9" name="Oval 7">
                <a:extLst>
                  <a:ext uri="{FF2B5EF4-FFF2-40B4-BE49-F238E27FC236}">
                    <a16:creationId xmlns:a16="http://schemas.microsoft.com/office/drawing/2014/main" id="{F77DADA6-39EA-4F49-BF69-B54981F43A93}"/>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Rounded Rectangle 8">
                <a:extLst>
                  <a:ext uri="{FF2B5EF4-FFF2-40B4-BE49-F238E27FC236}">
                    <a16:creationId xmlns:a16="http://schemas.microsoft.com/office/drawing/2014/main" id="{414D168B-29C2-4210-B545-06CBEEFEF1C5}"/>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11" name="Picture Placeholder 2">
            <a:extLst>
              <a:ext uri="{FF2B5EF4-FFF2-40B4-BE49-F238E27FC236}">
                <a16:creationId xmlns:a16="http://schemas.microsoft.com/office/drawing/2014/main" id="{6E6B1B6C-6A71-4B3B-A6B5-56A8DB4074E0}"/>
              </a:ext>
            </a:extLst>
          </p:cNvPr>
          <p:cNvSpPr>
            <a:spLocks noGrp="1"/>
          </p:cNvSpPr>
          <p:nvPr>
            <p:ph type="pic" idx="15" hasCustomPrompt="1"/>
          </p:nvPr>
        </p:nvSpPr>
        <p:spPr>
          <a:xfrm>
            <a:off x="877656" y="2102271"/>
            <a:ext cx="2152765" cy="3562112"/>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2" name="Text Placeholder 9">
            <a:extLst>
              <a:ext uri="{FF2B5EF4-FFF2-40B4-BE49-F238E27FC236}">
                <a16:creationId xmlns:a16="http://schemas.microsoft.com/office/drawing/2014/main" id="{7AACC8C0-0D02-450C-A4FB-05C1A86E40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283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83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B47474-984A-4090-AC20-98242EB09510}"/>
              </a:ext>
            </a:extLst>
          </p:cNvPr>
          <p:cNvSpPr/>
          <p:nvPr userDrawn="1"/>
        </p:nvSpPr>
        <p:spPr>
          <a:xfrm>
            <a:off x="0" y="1988840"/>
            <a:ext cx="12192000" cy="288032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 name="Oval 2">
            <a:extLst>
              <a:ext uri="{FF2B5EF4-FFF2-40B4-BE49-F238E27FC236}">
                <a16:creationId xmlns:a16="http://schemas.microsoft.com/office/drawing/2014/main" id="{2930F240-0CAF-4377-8C66-C79A9700127F}"/>
              </a:ext>
            </a:extLst>
          </p:cNvPr>
          <p:cNvSpPr/>
          <p:nvPr userDrawn="1"/>
        </p:nvSpPr>
        <p:spPr>
          <a:xfrm>
            <a:off x="6925208" y="5035013"/>
            <a:ext cx="4431324" cy="44887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4" name="Graphic 14">
            <a:extLst>
              <a:ext uri="{FF2B5EF4-FFF2-40B4-BE49-F238E27FC236}">
                <a16:creationId xmlns:a16="http://schemas.microsoft.com/office/drawing/2014/main" id="{09D52290-FED8-432E-A9AF-895F42C29BF1}"/>
              </a:ext>
            </a:extLst>
          </p:cNvPr>
          <p:cNvGrpSpPr/>
          <p:nvPr userDrawn="1"/>
        </p:nvGrpSpPr>
        <p:grpSpPr>
          <a:xfrm>
            <a:off x="6859251" y="1585382"/>
            <a:ext cx="4568370" cy="3687236"/>
            <a:chOff x="2444748" y="555045"/>
            <a:chExt cx="7282048" cy="5727454"/>
          </a:xfrm>
        </p:grpSpPr>
        <p:sp>
          <p:nvSpPr>
            <p:cNvPr id="5" name="Freeform: Shape 4">
              <a:extLst>
                <a:ext uri="{FF2B5EF4-FFF2-40B4-BE49-F238E27FC236}">
                  <a16:creationId xmlns:a16="http://schemas.microsoft.com/office/drawing/2014/main" id="{6DF2C3D3-4FC4-450E-A75F-6CA28E9A260C}"/>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155DD87-3668-41CD-B8FE-F7680E231E68}"/>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B1B24015-CBFE-4CE0-8A31-5115F8BF1167}"/>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E3E8073-D26E-4946-A0FB-859AFD2C5919}"/>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A5CFD02F-04CF-4A4F-B2ED-42A6C2D5743E}"/>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15426560-F548-478A-8C28-622AA658C2FC}"/>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4F41FF2-11EF-4478-BD9D-633C60DB9873}"/>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13A2F72-37C9-40A6-AB61-B60154A9A232}"/>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3" name="Picture Placeholder 2">
            <a:extLst>
              <a:ext uri="{FF2B5EF4-FFF2-40B4-BE49-F238E27FC236}">
                <a16:creationId xmlns:a16="http://schemas.microsoft.com/office/drawing/2014/main" id="{9F356DA8-6399-4BA3-920F-87F949C1BAE2}"/>
              </a:ext>
            </a:extLst>
          </p:cNvPr>
          <p:cNvSpPr>
            <a:spLocks noGrp="1"/>
          </p:cNvSpPr>
          <p:nvPr>
            <p:ph type="pic" idx="15" hasCustomPrompt="1"/>
          </p:nvPr>
        </p:nvSpPr>
        <p:spPr>
          <a:xfrm>
            <a:off x="7004813" y="1717989"/>
            <a:ext cx="4255842" cy="258895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4" name="Text Placeholder 9">
            <a:extLst>
              <a:ext uri="{FF2B5EF4-FFF2-40B4-BE49-F238E27FC236}">
                <a16:creationId xmlns:a16="http://schemas.microsoft.com/office/drawing/2014/main" id="{870C11E2-F55D-4B43-8F26-02B3875E4F10}"/>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928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E85C5121-D524-4FA3-827E-5E1FC7C84CCF}"/>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7483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4738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35713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‹Nº›</a:t>
            </a:fld>
            <a:endParaRPr lang="en-US" dirty="0"/>
          </a:p>
        </p:txBody>
      </p:sp>
    </p:spTree>
    <p:extLst>
      <p:ext uri="{BB962C8B-B14F-4D97-AF65-F5344CB8AC3E}">
        <p14:creationId xmlns:p14="http://schemas.microsoft.com/office/powerpoint/2010/main" val="130823535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0EBB0C4-6273-4C6E-B9BD-2EDC30F1CD52}"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1630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818513244"/>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2766801440"/>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93345800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11/3/2022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extLst>
      <p:ext uri="{BB962C8B-B14F-4D97-AF65-F5344CB8AC3E}">
        <p14:creationId xmlns:p14="http://schemas.microsoft.com/office/powerpoint/2010/main" val="3396807317"/>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11/3/2022</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‹Nº›</a:t>
            </a:fld>
            <a:endParaRPr lang="en-US" dirty="0"/>
          </a:p>
        </p:txBody>
      </p:sp>
    </p:spTree>
    <p:extLst>
      <p:ext uri="{BB962C8B-B14F-4D97-AF65-F5344CB8AC3E}">
        <p14:creationId xmlns:p14="http://schemas.microsoft.com/office/powerpoint/2010/main" val="239802676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CAD897-D46E-4AD2-BD9B-49DD3E640873}" type="datetimeFigureOut">
              <a:rPr lang="en-US" dirty="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64331602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3311335350"/>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1979140281"/>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8809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815840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9" r:id="rId14"/>
    <p:sldLayoutId id="2147483688" r:id="rId15"/>
    <p:sldLayoutId id="2147483687" r:id="rId16"/>
    <p:sldLayoutId id="2147483671" r:id="rId17"/>
    <p:sldLayoutId id="2147483672" r:id="rId18"/>
    <p:sldLayoutId id="2147483694"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11/3/2022</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‹Nº›</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83242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A65C57A-E7A0-DA1E-9398-8B15E80CADA6}"/>
              </a:ext>
            </a:extLst>
          </p:cNvPr>
          <p:cNvSpPr txBox="1"/>
          <p:nvPr/>
        </p:nvSpPr>
        <p:spPr>
          <a:xfrm>
            <a:off x="3337560" y="2587752"/>
            <a:ext cx="8229600" cy="584775"/>
          </a:xfrm>
          <a:prstGeom prst="rect">
            <a:avLst/>
          </a:prstGeom>
          <a:noFill/>
        </p:spPr>
        <p:txBody>
          <a:bodyPr wrap="square" rtlCol="0">
            <a:spAutoFit/>
          </a:bodyPr>
          <a:lstStyle/>
          <a:p>
            <a:r>
              <a:rPr lang="es-ES" sz="3200" dirty="0"/>
              <a:t>Normalización</a:t>
            </a:r>
          </a:p>
        </p:txBody>
      </p:sp>
      <p:sp>
        <p:nvSpPr>
          <p:cNvPr id="3" name="CuadroTexto 2">
            <a:extLst>
              <a:ext uri="{FF2B5EF4-FFF2-40B4-BE49-F238E27FC236}">
                <a16:creationId xmlns:a16="http://schemas.microsoft.com/office/drawing/2014/main" id="{6252B3F0-859D-3C24-9D57-935173730CB8}"/>
              </a:ext>
            </a:extLst>
          </p:cNvPr>
          <p:cNvSpPr txBox="1"/>
          <p:nvPr/>
        </p:nvSpPr>
        <p:spPr>
          <a:xfrm>
            <a:off x="3328416" y="850392"/>
            <a:ext cx="7150608" cy="369332"/>
          </a:xfrm>
          <a:prstGeom prst="rect">
            <a:avLst/>
          </a:prstGeom>
          <a:noFill/>
        </p:spPr>
        <p:txBody>
          <a:bodyPr wrap="square" rtlCol="0">
            <a:spAutoFit/>
          </a:bodyPr>
          <a:lstStyle/>
          <a:p>
            <a:r>
              <a:rPr lang="es-ES" dirty="0"/>
              <a:t>Ciclo Formativo de Grado Superior – Unidad 4</a:t>
            </a:r>
          </a:p>
        </p:txBody>
      </p:sp>
    </p:spTree>
    <p:extLst>
      <p:ext uri="{BB962C8B-B14F-4D97-AF65-F5344CB8AC3E}">
        <p14:creationId xmlns:p14="http://schemas.microsoft.com/office/powerpoint/2010/main" val="3842786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F6CF35A-06E2-607F-EE45-210955013E86}"/>
              </a:ext>
            </a:extLst>
          </p:cNvPr>
          <p:cNvSpPr>
            <a:spLocks noGrp="1"/>
          </p:cNvSpPr>
          <p:nvPr>
            <p:ph type="body" sz="quarter" idx="10"/>
          </p:nvPr>
        </p:nvSpPr>
        <p:spPr/>
        <p:txBody>
          <a:bodyPr>
            <a:normAutofit fontScale="92500" lnSpcReduction="10000"/>
          </a:bodyPr>
          <a:lstStyle/>
          <a:p>
            <a:r>
              <a:rPr lang="es-ES" dirty="0"/>
              <a:t>Introducción</a:t>
            </a:r>
          </a:p>
        </p:txBody>
      </p:sp>
      <p:sp>
        <p:nvSpPr>
          <p:cNvPr id="3" name="CuadroTexto 2">
            <a:extLst>
              <a:ext uri="{FF2B5EF4-FFF2-40B4-BE49-F238E27FC236}">
                <a16:creationId xmlns:a16="http://schemas.microsoft.com/office/drawing/2014/main" id="{5C58B0B7-2193-CAC0-0F1C-326932B292D0}"/>
              </a:ext>
            </a:extLst>
          </p:cNvPr>
          <p:cNvSpPr txBox="1"/>
          <p:nvPr/>
        </p:nvSpPr>
        <p:spPr>
          <a:xfrm>
            <a:off x="1344168" y="2093976"/>
            <a:ext cx="9637776" cy="3139321"/>
          </a:xfrm>
          <a:prstGeom prst="rect">
            <a:avLst/>
          </a:prstGeom>
          <a:noFill/>
        </p:spPr>
        <p:txBody>
          <a:bodyPr wrap="square" rtlCol="0">
            <a:spAutoFit/>
          </a:bodyPr>
          <a:lstStyle/>
          <a:p>
            <a:r>
              <a:rPr lang="es-ES" sz="1800" b="0" i="0" u="none" strike="noStrike" baseline="0" dirty="0">
                <a:solidFill>
                  <a:srgbClr val="000000"/>
                </a:solidFill>
                <a:latin typeface="Calibri" panose="020F0502020204030204" pitchFamily="34" charset="0"/>
              </a:rPr>
              <a:t>La </a:t>
            </a:r>
            <a:r>
              <a:rPr lang="es-ES" sz="1800" b="1" i="0" u="none" strike="noStrike" baseline="0" dirty="0">
                <a:solidFill>
                  <a:srgbClr val="000000"/>
                </a:solidFill>
                <a:latin typeface="Calibri" panose="020F0502020204030204" pitchFamily="34" charset="0"/>
              </a:rPr>
              <a:t>normalización</a:t>
            </a:r>
            <a:r>
              <a:rPr lang="es-ES" sz="1800" b="0" i="0" u="none" strike="noStrike" baseline="0" dirty="0">
                <a:solidFill>
                  <a:srgbClr val="000000"/>
                </a:solidFill>
                <a:latin typeface="Calibri" panose="020F0502020204030204" pitchFamily="34" charset="0"/>
              </a:rPr>
              <a:t> es un proceso que consiste en comprobar que las tablas (también denominadas relaciones) definidas cumplen unas determinadas condiciones.</a:t>
            </a:r>
            <a:endParaRPr lang="es-ES" dirty="0">
              <a:solidFill>
                <a:srgbClr val="000000"/>
              </a:solidFill>
              <a:latin typeface="Calibri" panose="020F0502020204030204" pitchFamily="34" charset="0"/>
            </a:endParaRPr>
          </a:p>
          <a:p>
            <a:endParaRPr lang="es-ES" sz="1800" b="0" i="0" u="none" strike="noStrike" baseline="0" dirty="0">
              <a:solidFill>
                <a:srgbClr val="000000"/>
              </a:solidFill>
              <a:latin typeface="Calibri" panose="020F0502020204030204" pitchFamily="34" charset="0"/>
            </a:endParaRPr>
          </a:p>
          <a:p>
            <a:r>
              <a:rPr lang="es-ES" dirty="0">
                <a:solidFill>
                  <a:srgbClr val="000000"/>
                </a:solidFill>
                <a:latin typeface="Calibri" panose="020F0502020204030204" pitchFamily="34" charset="0"/>
              </a:rPr>
              <a:t>S</a:t>
            </a:r>
            <a:r>
              <a:rPr lang="es-ES" sz="1800" b="0" i="0" u="none" strike="noStrike" baseline="0" dirty="0">
                <a:solidFill>
                  <a:srgbClr val="000000"/>
                </a:solidFill>
                <a:latin typeface="Calibri" panose="020F0502020204030204" pitchFamily="34" charset="0"/>
              </a:rPr>
              <a:t>e pretende garantizar la </a:t>
            </a:r>
            <a:r>
              <a:rPr lang="es-ES" sz="1800" b="1" i="0" u="none" strike="noStrike" baseline="0" dirty="0">
                <a:solidFill>
                  <a:srgbClr val="000000"/>
                </a:solidFill>
                <a:latin typeface="Calibri" panose="020F0502020204030204" pitchFamily="34" charset="0"/>
              </a:rPr>
              <a:t>no </a:t>
            </a:r>
            <a:r>
              <a:rPr lang="es-ES" sz="1800" b="0" i="0" u="none" strike="noStrike" baseline="0" dirty="0">
                <a:solidFill>
                  <a:srgbClr val="000000"/>
                </a:solidFill>
                <a:latin typeface="Calibri" panose="020F0502020204030204" pitchFamily="34" charset="0"/>
              </a:rPr>
              <a:t>existencia de redundancia (es decir, datos repetidos) y una cierta coherencia en la representación mediante un esquema relacional de las entidades y relaciones del modelo (MER). </a:t>
            </a:r>
          </a:p>
          <a:p>
            <a:endParaRPr lang="es-ES" dirty="0">
              <a:solidFill>
                <a:srgbClr val="000000"/>
              </a:solidFill>
              <a:latin typeface="Calibri" panose="020F0502020204030204" pitchFamily="34" charset="0"/>
            </a:endParaRPr>
          </a:p>
          <a:p>
            <a:r>
              <a:rPr lang="es-ES" altLang="ko-KR" sz="1800" dirty="0">
                <a:solidFill>
                  <a:schemeClr val="tx1">
                    <a:lumMod val="75000"/>
                    <a:lumOff val="25000"/>
                  </a:schemeClr>
                </a:solidFill>
              </a:rPr>
              <a:t>Para evaluar si el diseño de una BD cumple una serie de reglas que puedan asegurar la ausencia de anomalías de este tipo, tenemos la </a:t>
            </a:r>
            <a:r>
              <a:rPr lang="es-ES" altLang="ko-KR" sz="1800" b="1" dirty="0">
                <a:solidFill>
                  <a:schemeClr val="tx1">
                    <a:lumMod val="75000"/>
                    <a:lumOff val="25000"/>
                  </a:schemeClr>
                </a:solidFill>
              </a:rPr>
              <a:t>Teoría de la Normalización</a:t>
            </a:r>
            <a:r>
              <a:rPr lang="es-ES" altLang="ko-KR" sz="1800" dirty="0">
                <a:solidFill>
                  <a:schemeClr val="tx1">
                    <a:lumMod val="75000"/>
                    <a:lumOff val="25000"/>
                  </a:schemeClr>
                </a:solidFill>
              </a:rPr>
              <a:t>. Esta Teoría </a:t>
            </a:r>
            <a:r>
              <a:rPr lang="es-ES" altLang="ko-KR" sz="1800" b="1" dirty="0">
                <a:solidFill>
                  <a:schemeClr val="tx1">
                    <a:lumMod val="75000"/>
                    <a:lumOff val="25000"/>
                  </a:schemeClr>
                </a:solidFill>
              </a:rPr>
              <a:t>permite comprobar si las tablas de una BD cumplen una serie de condiciones</a:t>
            </a:r>
            <a:r>
              <a:rPr lang="es-ES" altLang="ko-KR" sz="1800" dirty="0">
                <a:solidFill>
                  <a:schemeClr val="tx1">
                    <a:lumMod val="75000"/>
                    <a:lumOff val="25000"/>
                  </a:schemeClr>
                </a:solidFill>
              </a:rPr>
              <a:t>. El cumplimiento de estas condiciones </a:t>
            </a:r>
            <a:r>
              <a:rPr lang="es-ES" altLang="ko-KR" sz="1800" b="1" dirty="0">
                <a:solidFill>
                  <a:schemeClr val="tx1">
                    <a:lumMod val="75000"/>
                    <a:lumOff val="25000"/>
                  </a:schemeClr>
                </a:solidFill>
              </a:rPr>
              <a:t>asegura la ausencia de anomalías</a:t>
            </a:r>
            <a:r>
              <a:rPr lang="es-ES" altLang="ko-KR" sz="1800" dirty="0">
                <a:solidFill>
                  <a:schemeClr val="tx1">
                    <a:lumMod val="75000"/>
                    <a:lumOff val="25000"/>
                  </a:schemeClr>
                </a:solidFill>
              </a:rPr>
              <a:t>.</a:t>
            </a:r>
            <a:endParaRPr lang="ko-KR" altLang="en-US" sz="1800" dirty="0">
              <a:solidFill>
                <a:schemeClr val="tx1">
                  <a:lumMod val="75000"/>
                  <a:lumOff val="25000"/>
                </a:schemeClr>
              </a:solidFill>
            </a:endParaRPr>
          </a:p>
        </p:txBody>
      </p:sp>
    </p:spTree>
    <p:extLst>
      <p:ext uri="{BB962C8B-B14F-4D97-AF65-F5344CB8AC3E}">
        <p14:creationId xmlns:p14="http://schemas.microsoft.com/office/powerpoint/2010/main" val="4631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B16DA1F-0C9A-B8C4-E718-A9C72C4F3533}"/>
              </a:ext>
            </a:extLst>
          </p:cNvPr>
          <p:cNvSpPr>
            <a:spLocks noGrp="1"/>
          </p:cNvSpPr>
          <p:nvPr>
            <p:ph type="body" sz="quarter" idx="10"/>
          </p:nvPr>
        </p:nvSpPr>
        <p:spPr/>
        <p:txBody>
          <a:bodyPr>
            <a:normAutofit fontScale="92500" lnSpcReduction="10000"/>
          </a:bodyPr>
          <a:lstStyle/>
          <a:p>
            <a:r>
              <a:rPr lang="es-ES" dirty="0"/>
              <a:t>Justificación</a:t>
            </a:r>
          </a:p>
        </p:txBody>
      </p:sp>
      <p:sp>
        <p:nvSpPr>
          <p:cNvPr id="3" name="CuadroTexto 2">
            <a:extLst>
              <a:ext uri="{FF2B5EF4-FFF2-40B4-BE49-F238E27FC236}">
                <a16:creationId xmlns:a16="http://schemas.microsoft.com/office/drawing/2014/main" id="{14B55A35-9A79-47E9-0340-4289DE763DE9}"/>
              </a:ext>
            </a:extLst>
          </p:cNvPr>
          <p:cNvSpPr txBox="1"/>
          <p:nvPr/>
        </p:nvSpPr>
        <p:spPr>
          <a:xfrm>
            <a:off x="1271016" y="1965960"/>
            <a:ext cx="9893808" cy="646331"/>
          </a:xfrm>
          <a:prstGeom prst="rect">
            <a:avLst/>
          </a:prstGeom>
          <a:noFill/>
        </p:spPr>
        <p:txBody>
          <a:bodyPr wrap="square" rtlCol="0">
            <a:spAutoFit/>
          </a:bodyPr>
          <a:lstStyle/>
          <a:p>
            <a:r>
              <a:rPr lang="es-ES" dirty="0"/>
              <a:t>En el siguiente diseño de BD:</a:t>
            </a:r>
          </a:p>
          <a:p>
            <a:endParaRPr lang="es-ES" dirty="0"/>
          </a:p>
        </p:txBody>
      </p:sp>
      <p:pic>
        <p:nvPicPr>
          <p:cNvPr id="5" name="Imagen 4">
            <a:extLst>
              <a:ext uri="{FF2B5EF4-FFF2-40B4-BE49-F238E27FC236}">
                <a16:creationId xmlns:a16="http://schemas.microsoft.com/office/drawing/2014/main" id="{3C7D3AB9-EE1B-DB6D-44ED-1A153453A717}"/>
              </a:ext>
            </a:extLst>
          </p:cNvPr>
          <p:cNvPicPr>
            <a:picLocks noChangeAspect="1"/>
          </p:cNvPicPr>
          <p:nvPr/>
        </p:nvPicPr>
        <p:blipFill>
          <a:blip r:embed="rId2"/>
          <a:stretch>
            <a:fillRect/>
          </a:stretch>
        </p:blipFill>
        <p:spPr>
          <a:xfrm>
            <a:off x="3200400" y="2414587"/>
            <a:ext cx="5791200" cy="2028825"/>
          </a:xfrm>
          <a:prstGeom prst="rect">
            <a:avLst/>
          </a:prstGeom>
        </p:spPr>
      </p:pic>
      <p:sp>
        <p:nvSpPr>
          <p:cNvPr id="6" name="CuadroTexto 5">
            <a:extLst>
              <a:ext uri="{FF2B5EF4-FFF2-40B4-BE49-F238E27FC236}">
                <a16:creationId xmlns:a16="http://schemas.microsoft.com/office/drawing/2014/main" id="{B15CF560-065D-CE0D-958C-57E1160F712C}"/>
              </a:ext>
            </a:extLst>
          </p:cNvPr>
          <p:cNvSpPr txBox="1"/>
          <p:nvPr/>
        </p:nvSpPr>
        <p:spPr>
          <a:xfrm>
            <a:off x="1271016" y="4443412"/>
            <a:ext cx="8275320" cy="369332"/>
          </a:xfrm>
          <a:prstGeom prst="rect">
            <a:avLst/>
          </a:prstGeom>
          <a:noFill/>
        </p:spPr>
        <p:txBody>
          <a:bodyPr wrap="square" rtlCol="0">
            <a:spAutoFit/>
          </a:bodyPr>
          <a:lstStyle/>
          <a:p>
            <a:r>
              <a:rPr lang="es-ES" dirty="0"/>
              <a:t>Pueden existir varias anomalías de actualización por lo que es un mal diseño.</a:t>
            </a:r>
          </a:p>
        </p:txBody>
      </p:sp>
    </p:spTree>
    <p:extLst>
      <p:ext uri="{BB962C8B-B14F-4D97-AF65-F5344CB8AC3E}">
        <p14:creationId xmlns:p14="http://schemas.microsoft.com/office/powerpoint/2010/main" val="854183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12A6D2D-4F2A-5F46-3BD3-3527776C2309}"/>
              </a:ext>
            </a:extLst>
          </p:cNvPr>
          <p:cNvSpPr>
            <a:spLocks noGrp="1"/>
          </p:cNvSpPr>
          <p:nvPr>
            <p:ph type="body" sz="quarter" idx="10"/>
          </p:nvPr>
        </p:nvSpPr>
        <p:spPr/>
        <p:txBody>
          <a:bodyPr>
            <a:normAutofit fontScale="92500" lnSpcReduction="10000"/>
          </a:bodyPr>
          <a:lstStyle/>
          <a:p>
            <a:r>
              <a:rPr lang="es-ES" dirty="0"/>
              <a:t>Anomalía de inserción</a:t>
            </a:r>
          </a:p>
        </p:txBody>
      </p:sp>
      <p:sp>
        <p:nvSpPr>
          <p:cNvPr id="4" name="CuadroTexto 3">
            <a:extLst>
              <a:ext uri="{FF2B5EF4-FFF2-40B4-BE49-F238E27FC236}">
                <a16:creationId xmlns:a16="http://schemas.microsoft.com/office/drawing/2014/main" id="{3CC2059D-C75C-B244-DF4B-599347B583C2}"/>
              </a:ext>
            </a:extLst>
          </p:cNvPr>
          <p:cNvSpPr txBox="1"/>
          <p:nvPr/>
        </p:nvSpPr>
        <p:spPr>
          <a:xfrm>
            <a:off x="1216152" y="1938528"/>
            <a:ext cx="10104120" cy="615553"/>
          </a:xfrm>
          <a:prstGeom prst="rect">
            <a:avLst/>
          </a:prstGeom>
          <a:noFill/>
        </p:spPr>
        <p:txBody>
          <a:bodyPr wrap="square" rtlCol="0">
            <a:spAutoFit/>
          </a:bodyPr>
          <a:lstStyle/>
          <a:p>
            <a:r>
              <a:rPr lang="es-ES" sz="1600" dirty="0">
                <a:effectLst/>
                <a:latin typeface="Calibri" panose="020F0502020204030204" pitchFamily="34" charset="0"/>
                <a:ea typeface="Calibri" panose="020F0502020204030204" pitchFamily="34" charset="0"/>
                <a:cs typeface="Times New Roman" panose="02020603050405020304" pitchFamily="18" charset="0"/>
              </a:rPr>
              <a:t>En la tabla TRABAJA, cada vez que un empleado trabaja en un proyecto hay que introducir su teléfono.</a:t>
            </a:r>
          </a:p>
          <a:p>
            <a:endParaRPr lang="es-ES" dirty="0"/>
          </a:p>
        </p:txBody>
      </p:sp>
      <p:pic>
        <p:nvPicPr>
          <p:cNvPr id="6" name="Imagen 5">
            <a:extLst>
              <a:ext uri="{FF2B5EF4-FFF2-40B4-BE49-F238E27FC236}">
                <a16:creationId xmlns:a16="http://schemas.microsoft.com/office/drawing/2014/main" id="{300C9C48-F2D9-B7AD-7FAB-E3A5A89B94A4}"/>
              </a:ext>
            </a:extLst>
          </p:cNvPr>
          <p:cNvPicPr>
            <a:picLocks noChangeAspect="1"/>
          </p:cNvPicPr>
          <p:nvPr/>
        </p:nvPicPr>
        <p:blipFill>
          <a:blip r:embed="rId2"/>
          <a:stretch>
            <a:fillRect/>
          </a:stretch>
        </p:blipFill>
        <p:spPr>
          <a:xfrm>
            <a:off x="3852863" y="2316383"/>
            <a:ext cx="3956114" cy="1311727"/>
          </a:xfrm>
          <a:prstGeom prst="rect">
            <a:avLst/>
          </a:prstGeom>
        </p:spPr>
      </p:pic>
      <p:sp>
        <p:nvSpPr>
          <p:cNvPr id="7" name="CuadroTexto 6">
            <a:extLst>
              <a:ext uri="{FF2B5EF4-FFF2-40B4-BE49-F238E27FC236}">
                <a16:creationId xmlns:a16="http://schemas.microsoft.com/office/drawing/2014/main" id="{CB13AFFC-46D6-D7FC-0BF1-C5C5AED0C227}"/>
              </a:ext>
            </a:extLst>
          </p:cNvPr>
          <p:cNvSpPr txBox="1"/>
          <p:nvPr/>
        </p:nvSpPr>
        <p:spPr>
          <a:xfrm>
            <a:off x="1216152" y="3708283"/>
            <a:ext cx="9646920" cy="861774"/>
          </a:xfrm>
          <a:prstGeom prst="rect">
            <a:avLst/>
          </a:prstGeom>
          <a:noFill/>
        </p:spPr>
        <p:txBody>
          <a:bodyPr wrap="square" rtlCol="0">
            <a:spAutoFit/>
          </a:bodyPr>
          <a:lstStyle/>
          <a:p>
            <a:r>
              <a:rPr lang="es-ES" sz="1600" dirty="0">
                <a:effectLst/>
                <a:latin typeface="Calibri" panose="020F0502020204030204" pitchFamily="34" charset="0"/>
                <a:ea typeface="Calibri" panose="020F0502020204030204" pitchFamily="34" charset="0"/>
                <a:cs typeface="Times New Roman" panose="02020603050405020304" pitchFamily="18" charset="0"/>
              </a:rPr>
              <a:t>Si nos equivocamos de teléfono, al incluir al empelado en un nuevo proyecto, aparece una </a:t>
            </a:r>
            <a:r>
              <a:rPr lang="es-ES" sz="1600" b="1" dirty="0">
                <a:effectLst/>
                <a:latin typeface="Calibri" panose="020F0502020204030204" pitchFamily="34" charset="0"/>
                <a:ea typeface="Calibri" panose="020F0502020204030204" pitchFamily="34" charset="0"/>
                <a:cs typeface="Times New Roman" panose="02020603050405020304" pitchFamily="18" charset="0"/>
              </a:rPr>
              <a:t>inconsistencia</a:t>
            </a:r>
            <a:r>
              <a:rPr lang="es-ES" sz="1600" dirty="0">
                <a:effectLst/>
                <a:latin typeface="Calibri" panose="020F0502020204030204" pitchFamily="34" charset="0"/>
                <a:ea typeface="Calibri" panose="020F0502020204030204" pitchFamily="34" charset="0"/>
                <a:cs typeface="Times New Roman" panose="02020603050405020304" pitchFamily="18" charset="0"/>
              </a:rPr>
              <a:t> en los datos, que </a:t>
            </a:r>
            <a:r>
              <a:rPr lang="es-ES" sz="1600" b="1" dirty="0">
                <a:effectLst/>
                <a:latin typeface="Calibri" panose="020F0502020204030204" pitchFamily="34" charset="0"/>
                <a:ea typeface="Calibri" panose="020F0502020204030204" pitchFamily="34" charset="0"/>
                <a:cs typeface="Times New Roman" panose="02020603050405020304" pitchFamily="18" charset="0"/>
              </a:rPr>
              <a:t>hará imposible saber cuál es el teléfono real del empleado</a:t>
            </a:r>
            <a:r>
              <a:rPr lang="es-ES" sz="1600" dirty="0">
                <a:effectLst/>
                <a:latin typeface="Calibri" panose="020F0502020204030204" pitchFamily="34" charset="0"/>
                <a:ea typeface="Calibri" panose="020F0502020204030204" pitchFamily="34" charset="0"/>
                <a:cs typeface="Times New Roman" panose="02020603050405020304" pitchFamily="18" charset="0"/>
              </a:rPr>
              <a:t>.  Ejemplo: </a:t>
            </a:r>
          </a:p>
          <a:p>
            <a:endParaRPr lang="es-ES" dirty="0"/>
          </a:p>
        </p:txBody>
      </p:sp>
      <p:pic>
        <p:nvPicPr>
          <p:cNvPr id="9" name="Imagen 8">
            <a:extLst>
              <a:ext uri="{FF2B5EF4-FFF2-40B4-BE49-F238E27FC236}">
                <a16:creationId xmlns:a16="http://schemas.microsoft.com/office/drawing/2014/main" id="{AE21DE09-CE0E-1566-6435-A45FEE072E2F}"/>
              </a:ext>
            </a:extLst>
          </p:cNvPr>
          <p:cNvPicPr>
            <a:picLocks noChangeAspect="1"/>
          </p:cNvPicPr>
          <p:nvPr/>
        </p:nvPicPr>
        <p:blipFill>
          <a:blip r:embed="rId3"/>
          <a:stretch>
            <a:fillRect/>
          </a:stretch>
        </p:blipFill>
        <p:spPr>
          <a:xfrm>
            <a:off x="2152079" y="4316437"/>
            <a:ext cx="4459033" cy="1620037"/>
          </a:xfrm>
          <a:prstGeom prst="rect">
            <a:avLst/>
          </a:prstGeom>
        </p:spPr>
      </p:pic>
      <p:sp>
        <p:nvSpPr>
          <p:cNvPr id="10" name="CuadroTexto 9">
            <a:extLst>
              <a:ext uri="{FF2B5EF4-FFF2-40B4-BE49-F238E27FC236}">
                <a16:creationId xmlns:a16="http://schemas.microsoft.com/office/drawing/2014/main" id="{B7A27FB2-C530-674B-5513-2C0FBA150C68}"/>
              </a:ext>
            </a:extLst>
          </p:cNvPr>
          <p:cNvSpPr txBox="1"/>
          <p:nvPr/>
        </p:nvSpPr>
        <p:spPr>
          <a:xfrm>
            <a:off x="7150608" y="4453128"/>
            <a:ext cx="4078224" cy="1846659"/>
          </a:xfrm>
          <a:prstGeom prst="rect">
            <a:avLst/>
          </a:prstGeom>
          <a:noFill/>
        </p:spPr>
        <p:txBody>
          <a:bodyPr wrap="square" rtlCol="0">
            <a:spAutoFit/>
          </a:bodyPr>
          <a:lstStyle/>
          <a:p>
            <a:r>
              <a:rPr lang="es-ES" sz="1600" dirty="0">
                <a:effectLst/>
                <a:latin typeface="Calibri" panose="020F0502020204030204" pitchFamily="34" charset="0"/>
                <a:ea typeface="Calibri" panose="020F0502020204030204" pitchFamily="34" charset="0"/>
                <a:cs typeface="Times New Roman" panose="02020603050405020304" pitchFamily="18" charset="0"/>
              </a:rPr>
              <a:t>Si quiero almacenar el teléfono del empleado, pero aún no tengo un proyecto al que asignarlo, no puedo porque, código proyecto forma parte de la clave primaria, por lo que siempre que quiera almacenar un teléfono tengo que insertar un código de proyecto  </a:t>
            </a:r>
          </a:p>
          <a:p>
            <a:endParaRPr lang="es-ES" dirty="0"/>
          </a:p>
        </p:txBody>
      </p:sp>
    </p:spTree>
    <p:extLst>
      <p:ext uri="{BB962C8B-B14F-4D97-AF65-F5344CB8AC3E}">
        <p14:creationId xmlns:p14="http://schemas.microsoft.com/office/powerpoint/2010/main" val="3615985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D43B5A7-27B4-3DC6-6204-5D13396E890C}"/>
              </a:ext>
            </a:extLst>
          </p:cNvPr>
          <p:cNvSpPr>
            <a:spLocks noGrp="1"/>
          </p:cNvSpPr>
          <p:nvPr>
            <p:ph type="body" sz="quarter" idx="10"/>
          </p:nvPr>
        </p:nvSpPr>
        <p:spPr/>
        <p:txBody>
          <a:bodyPr>
            <a:normAutofit fontScale="92500" lnSpcReduction="10000"/>
          </a:bodyPr>
          <a:lstStyle/>
          <a:p>
            <a:r>
              <a:rPr lang="es-ES" dirty="0"/>
              <a:t>Anomalía de borrado</a:t>
            </a:r>
          </a:p>
        </p:txBody>
      </p:sp>
      <p:sp>
        <p:nvSpPr>
          <p:cNvPr id="3" name="CuadroTexto 2">
            <a:extLst>
              <a:ext uri="{FF2B5EF4-FFF2-40B4-BE49-F238E27FC236}">
                <a16:creationId xmlns:a16="http://schemas.microsoft.com/office/drawing/2014/main" id="{EB7A90C2-45E5-C6A9-55BF-DC659679DE26}"/>
              </a:ext>
            </a:extLst>
          </p:cNvPr>
          <p:cNvSpPr txBox="1"/>
          <p:nvPr/>
        </p:nvSpPr>
        <p:spPr>
          <a:xfrm>
            <a:off x="1225296" y="1892808"/>
            <a:ext cx="10067544" cy="671915"/>
          </a:xfrm>
          <a:prstGeom prst="rect">
            <a:avLst/>
          </a:prstGeom>
          <a:noFill/>
        </p:spPr>
        <p:txBody>
          <a:bodyPr wrap="square" rtlCol="0">
            <a:spAutoFit/>
          </a:bodyPr>
          <a:lstStyle/>
          <a:p>
            <a:pPr>
              <a:lnSpc>
                <a:spcPct val="107000"/>
              </a:lnSpc>
              <a:spcAft>
                <a:spcPts val="8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Se produce cuando, al borrar información de una relación, se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borra información que no sería deseable</a:t>
            </a:r>
            <a:r>
              <a:rPr lang="es-ES" sz="1800" dirty="0">
                <a:effectLst/>
                <a:latin typeface="Calibri" panose="020F0502020204030204" pitchFamily="34" charset="0"/>
                <a:ea typeface="Calibri" panose="020F0502020204030204" pitchFamily="34" charset="0"/>
                <a:cs typeface="Times New Roman" panose="02020603050405020304" pitchFamily="18" charset="0"/>
              </a:rPr>
              <a:t> perder. En el ejemplo anterior, si se borra la información marcada se pierde el teléfono del empleado. </a:t>
            </a:r>
            <a:endParaRPr lang="es-ES" dirty="0"/>
          </a:p>
        </p:txBody>
      </p:sp>
      <p:pic>
        <p:nvPicPr>
          <p:cNvPr id="4" name="Imagen 3">
            <a:extLst>
              <a:ext uri="{FF2B5EF4-FFF2-40B4-BE49-F238E27FC236}">
                <a16:creationId xmlns:a16="http://schemas.microsoft.com/office/drawing/2014/main" id="{0D4330C1-BAAD-4F8E-5E04-DC3C8863AB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68802" y="3025266"/>
            <a:ext cx="5326380" cy="1939925"/>
          </a:xfrm>
          <a:prstGeom prst="rect">
            <a:avLst/>
          </a:prstGeom>
          <a:noFill/>
          <a:ln>
            <a:noFill/>
          </a:ln>
        </p:spPr>
      </p:pic>
    </p:spTree>
    <p:extLst>
      <p:ext uri="{BB962C8B-B14F-4D97-AF65-F5344CB8AC3E}">
        <p14:creationId xmlns:p14="http://schemas.microsoft.com/office/powerpoint/2010/main" val="418603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8A19491-DB6E-41B0-CABA-76C18FDF26D4}"/>
              </a:ext>
            </a:extLst>
          </p:cNvPr>
          <p:cNvSpPr>
            <a:spLocks noGrp="1"/>
          </p:cNvSpPr>
          <p:nvPr>
            <p:ph type="body" sz="quarter" idx="10"/>
          </p:nvPr>
        </p:nvSpPr>
        <p:spPr/>
        <p:txBody>
          <a:bodyPr>
            <a:normAutofit fontScale="92500" lnSpcReduction="10000"/>
          </a:bodyPr>
          <a:lstStyle/>
          <a:p>
            <a:r>
              <a:rPr lang="es-ES" dirty="0"/>
              <a:t>Anomalía de modificación</a:t>
            </a:r>
          </a:p>
        </p:txBody>
      </p:sp>
      <p:sp>
        <p:nvSpPr>
          <p:cNvPr id="3" name="CuadroTexto 2">
            <a:extLst>
              <a:ext uri="{FF2B5EF4-FFF2-40B4-BE49-F238E27FC236}">
                <a16:creationId xmlns:a16="http://schemas.microsoft.com/office/drawing/2014/main" id="{8157823F-E24F-4C06-233D-309B9431C025}"/>
              </a:ext>
            </a:extLst>
          </p:cNvPr>
          <p:cNvSpPr txBox="1"/>
          <p:nvPr/>
        </p:nvSpPr>
        <p:spPr>
          <a:xfrm>
            <a:off x="1234440" y="1947672"/>
            <a:ext cx="9866376" cy="1200329"/>
          </a:xfrm>
          <a:prstGeom prst="rect">
            <a:avLst/>
          </a:prstGeom>
          <a:noFill/>
        </p:spPr>
        <p:txBody>
          <a:bodyPr wrap="square" rtlCol="0">
            <a:spAutoFit/>
          </a:bodyPr>
          <a:lstStyle/>
          <a:p>
            <a:r>
              <a:rPr lang="es-ES" sz="1800" dirty="0">
                <a:effectLst/>
                <a:latin typeface="Calibri" panose="020F0502020204030204" pitchFamily="34" charset="0"/>
                <a:ea typeface="Calibri" panose="020F0502020204030204" pitchFamily="34" charset="0"/>
                <a:cs typeface="Times New Roman" panose="02020603050405020304" pitchFamily="18" charset="0"/>
              </a:rPr>
              <a:t>Actualizar un dato, tiene un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coste computacional muy alto</a:t>
            </a:r>
            <a:r>
              <a:rPr lang="es-ES" sz="1800" dirty="0">
                <a:effectLst/>
                <a:latin typeface="Calibri" panose="020F0502020204030204" pitchFamily="34" charset="0"/>
                <a:ea typeface="Calibri" panose="020F0502020204030204" pitchFamily="34" charset="0"/>
                <a:cs typeface="Times New Roman" panose="02020603050405020304" pitchFamily="18" charset="0"/>
              </a:rPr>
              <a:t>, en el ejemplo anterior, si deseamos actualizar el teléfono de un empleado se debería actualizar el teléfono cada vez que aparezca el DNI del empleado, cuando esto podría hacerse en una única operación, sobre una única fila.</a:t>
            </a:r>
          </a:p>
          <a:p>
            <a:endParaRPr lang="es-ES" dirty="0"/>
          </a:p>
        </p:txBody>
      </p:sp>
      <p:pic>
        <p:nvPicPr>
          <p:cNvPr id="4" name="Imagen 3">
            <a:extLst>
              <a:ext uri="{FF2B5EF4-FFF2-40B4-BE49-F238E27FC236}">
                <a16:creationId xmlns:a16="http://schemas.microsoft.com/office/drawing/2014/main" id="{C00C94A5-37C0-70B8-05FE-F986B47E9815}"/>
              </a:ext>
            </a:extLst>
          </p:cNvPr>
          <p:cNvPicPr>
            <a:picLocks noChangeAspect="1"/>
          </p:cNvPicPr>
          <p:nvPr/>
        </p:nvPicPr>
        <p:blipFill>
          <a:blip r:embed="rId2"/>
          <a:stretch>
            <a:fillRect/>
          </a:stretch>
        </p:blipFill>
        <p:spPr>
          <a:xfrm>
            <a:off x="3797999" y="3194207"/>
            <a:ext cx="4455560" cy="1477328"/>
          </a:xfrm>
          <a:prstGeom prst="rect">
            <a:avLst/>
          </a:prstGeom>
        </p:spPr>
      </p:pic>
      <p:sp>
        <p:nvSpPr>
          <p:cNvPr id="5" name="CuadroTexto 4">
            <a:extLst>
              <a:ext uri="{FF2B5EF4-FFF2-40B4-BE49-F238E27FC236}">
                <a16:creationId xmlns:a16="http://schemas.microsoft.com/office/drawing/2014/main" id="{3F2D2DCF-A9DC-016A-7AA6-03C0227D4CFE}"/>
              </a:ext>
            </a:extLst>
          </p:cNvPr>
          <p:cNvSpPr txBox="1"/>
          <p:nvPr/>
        </p:nvSpPr>
        <p:spPr>
          <a:xfrm>
            <a:off x="1097280" y="5221224"/>
            <a:ext cx="10003536" cy="646331"/>
          </a:xfrm>
          <a:prstGeom prst="rect">
            <a:avLst/>
          </a:prstGeom>
          <a:noFill/>
        </p:spPr>
        <p:txBody>
          <a:bodyPr wrap="square" rtlCol="0">
            <a:spAutoFit/>
          </a:bodyPr>
          <a:lstStyle/>
          <a:p>
            <a:r>
              <a:rPr lang="es-ES" dirty="0"/>
              <a:t>En este ejemplo deberíamos actualizar el teléfono del empleado cuyo DNI es 10870079R en 3 filas de la tabla, pero ¿Qué ocurriría si la tabla tiene cien mil registros?, el coste computacional sería muy elevado.</a:t>
            </a:r>
          </a:p>
        </p:txBody>
      </p:sp>
    </p:spTree>
    <p:extLst>
      <p:ext uri="{BB962C8B-B14F-4D97-AF65-F5344CB8AC3E}">
        <p14:creationId xmlns:p14="http://schemas.microsoft.com/office/powerpoint/2010/main" val="1833041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75274C7-496B-18C1-DB56-0940FB90CA39}"/>
              </a:ext>
            </a:extLst>
          </p:cNvPr>
          <p:cNvSpPr>
            <a:spLocks noGrp="1"/>
          </p:cNvSpPr>
          <p:nvPr>
            <p:ph type="body" sz="quarter" idx="10"/>
          </p:nvPr>
        </p:nvSpPr>
        <p:spPr/>
        <p:txBody>
          <a:bodyPr>
            <a:normAutofit fontScale="92500" lnSpcReduction="10000"/>
          </a:bodyPr>
          <a:lstStyle/>
          <a:p>
            <a:r>
              <a:rPr lang="es-ES" dirty="0"/>
              <a:t>Dependencia funcional</a:t>
            </a:r>
          </a:p>
        </p:txBody>
      </p:sp>
      <p:sp>
        <p:nvSpPr>
          <p:cNvPr id="3" name="CuadroTexto 2">
            <a:extLst>
              <a:ext uri="{FF2B5EF4-FFF2-40B4-BE49-F238E27FC236}">
                <a16:creationId xmlns:a16="http://schemas.microsoft.com/office/drawing/2014/main" id="{F1164C3B-98E8-9154-8110-A9DDD51E9E53}"/>
              </a:ext>
            </a:extLst>
          </p:cNvPr>
          <p:cNvSpPr txBox="1"/>
          <p:nvPr/>
        </p:nvSpPr>
        <p:spPr>
          <a:xfrm>
            <a:off x="1181100" y="1956816"/>
            <a:ext cx="9829800" cy="3658374"/>
          </a:xfrm>
          <a:prstGeom prst="rect">
            <a:avLst/>
          </a:prstGeom>
          <a:noFill/>
        </p:spPr>
        <p:txBody>
          <a:bodyPr wrap="square" rtlCol="0">
            <a:spAutoFit/>
          </a:bodyPr>
          <a:lstStyle/>
          <a:p>
            <a:pPr>
              <a:lnSpc>
                <a:spcPct val="107000"/>
              </a:lnSpc>
              <a:spcAft>
                <a:spcPts val="8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Las dependencias funcionales, nos indican que en todo sistema de información existen atributos que dependen de otros. Es decir que, si se conoce el valor de un atributo, sólo habrá un único valor de otro atributo. </a:t>
            </a:r>
          </a:p>
          <a:p>
            <a:pPr>
              <a:lnSpc>
                <a:spcPct val="107000"/>
              </a:lnSpc>
              <a:spcAft>
                <a:spcPts val="800"/>
              </a:spcAft>
            </a:pPr>
            <a:r>
              <a:rPr lang="es-ES" dirty="0">
                <a:latin typeface="Calibri" panose="020F0502020204030204" pitchFamily="34" charset="0"/>
                <a:ea typeface="Calibri" panose="020F0502020204030204" pitchFamily="34" charset="0"/>
                <a:cs typeface="Times New Roman" panose="02020603050405020304" pitchFamily="18" charset="0"/>
              </a:rPr>
              <a:t>Ejemplo:</a:t>
            </a:r>
          </a:p>
          <a:p>
            <a:pPr>
              <a:lnSpc>
                <a:spcPct val="107000"/>
              </a:lnSpc>
              <a:spcAft>
                <a:spcPts val="800"/>
              </a:spcAft>
            </a:pPr>
            <a:r>
              <a:rPr lang="es-ES" dirty="0" err="1">
                <a:latin typeface="Calibri" panose="020F0502020204030204" pitchFamily="34" charset="0"/>
                <a:ea typeface="Calibri" panose="020F0502020204030204" pitchFamily="34" charset="0"/>
                <a:cs typeface="Times New Roman" panose="02020603050405020304" pitchFamily="18" charset="0"/>
              </a:rPr>
              <a:t>NIF</a:t>
            </a:r>
            <a:r>
              <a:rPr lang="es-ES"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teléfono</a:t>
            </a:r>
            <a:r>
              <a:rPr lang="es-E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(teléfono depende funcionalmente de NIF) – Cada NIF tiene </a:t>
            </a:r>
            <a:r>
              <a:rPr lang="es-ES" b="1"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un solo teléfono</a:t>
            </a:r>
            <a:r>
              <a:rPr lang="es-E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el mismo teléfono puede estar en varios empleados</a:t>
            </a:r>
          </a:p>
          <a:p>
            <a:pPr>
              <a:lnSpc>
                <a:spcPct val="107000"/>
              </a:lnSpc>
              <a:spcAft>
                <a:spcPts val="800"/>
              </a:spcAft>
            </a:pPr>
            <a:endParaRPr lang="es-E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a:lnSpc>
                <a:spcPct val="107000"/>
              </a:lnSpc>
              <a:spcAft>
                <a:spcPts val="800"/>
              </a:spcAft>
            </a:pPr>
            <a:endParaRPr lang="es-E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a:lnSpc>
                <a:spcPct val="107000"/>
              </a:lnSpc>
              <a:spcAft>
                <a:spcPts val="800"/>
              </a:spcAft>
            </a:pPr>
            <a:endParaRPr lang="es-E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a:lnSpc>
                <a:spcPct val="107000"/>
              </a:lnSpc>
              <a:spcAft>
                <a:spcPts val="800"/>
              </a:spcAft>
            </a:pPr>
            <a:endParaRPr lang="es-ES"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a 7">
            <a:extLst>
              <a:ext uri="{FF2B5EF4-FFF2-40B4-BE49-F238E27FC236}">
                <a16:creationId xmlns:a16="http://schemas.microsoft.com/office/drawing/2014/main" id="{09C88A01-AAB6-DA8E-51EE-72F445F692DA}"/>
              </a:ext>
            </a:extLst>
          </p:cNvPr>
          <p:cNvGraphicFramePr>
            <a:graphicFrameLocks noGrp="1"/>
          </p:cNvGraphicFramePr>
          <p:nvPr>
            <p:extLst>
              <p:ext uri="{D42A27DB-BD31-4B8C-83A1-F6EECF244321}">
                <p14:modId xmlns:p14="http://schemas.microsoft.com/office/powerpoint/2010/main" val="4199374069"/>
              </p:ext>
            </p:extLst>
          </p:nvPr>
        </p:nvGraphicFramePr>
        <p:xfrm>
          <a:off x="2918968" y="4157810"/>
          <a:ext cx="5200904" cy="1828800"/>
        </p:xfrm>
        <a:graphic>
          <a:graphicData uri="http://schemas.openxmlformats.org/drawingml/2006/table">
            <a:tbl>
              <a:tblPr firstRow="1" bandRow="1">
                <a:tableStyleId>{5C22544A-7EE6-4342-B048-85BDC9FD1C3A}</a:tableStyleId>
              </a:tblPr>
              <a:tblGrid>
                <a:gridCol w="2600452">
                  <a:extLst>
                    <a:ext uri="{9D8B030D-6E8A-4147-A177-3AD203B41FA5}">
                      <a16:colId xmlns:a16="http://schemas.microsoft.com/office/drawing/2014/main" val="3086250254"/>
                    </a:ext>
                  </a:extLst>
                </a:gridCol>
                <a:gridCol w="2600452">
                  <a:extLst>
                    <a:ext uri="{9D8B030D-6E8A-4147-A177-3AD203B41FA5}">
                      <a16:colId xmlns:a16="http://schemas.microsoft.com/office/drawing/2014/main" val="1447646441"/>
                    </a:ext>
                  </a:extLst>
                </a:gridCol>
              </a:tblGrid>
              <a:tr h="340699">
                <a:tc>
                  <a:txBody>
                    <a:bodyPr/>
                    <a:lstStyle/>
                    <a:p>
                      <a:pPr algn="ctr"/>
                      <a:r>
                        <a:rPr lang="es-ES" dirty="0"/>
                        <a:t>NIF</a:t>
                      </a:r>
                    </a:p>
                  </a:txBody>
                  <a:tcPr/>
                </a:tc>
                <a:tc>
                  <a:txBody>
                    <a:bodyPr/>
                    <a:lstStyle/>
                    <a:p>
                      <a:pPr algn="ctr"/>
                      <a:r>
                        <a:rPr lang="es-ES" dirty="0"/>
                        <a:t>teléfono</a:t>
                      </a:r>
                    </a:p>
                  </a:txBody>
                  <a:tcPr/>
                </a:tc>
                <a:extLst>
                  <a:ext uri="{0D108BD9-81ED-4DB2-BD59-A6C34878D82A}">
                    <a16:rowId xmlns:a16="http://schemas.microsoft.com/office/drawing/2014/main" val="1372298010"/>
                  </a:ext>
                </a:extLst>
              </a:tr>
              <a:tr h="340699">
                <a:tc>
                  <a:txBody>
                    <a:bodyPr/>
                    <a:lstStyle/>
                    <a:p>
                      <a:pPr algn="ctr"/>
                      <a:r>
                        <a:rPr lang="es-ES" dirty="0"/>
                        <a:t>21</a:t>
                      </a:r>
                    </a:p>
                  </a:txBody>
                  <a:tcPr/>
                </a:tc>
                <a:tc>
                  <a:txBody>
                    <a:bodyPr/>
                    <a:lstStyle/>
                    <a:p>
                      <a:pPr algn="ctr"/>
                      <a:r>
                        <a:rPr lang="es-ES" dirty="0"/>
                        <a:t>965</a:t>
                      </a:r>
                    </a:p>
                  </a:txBody>
                  <a:tcPr/>
                </a:tc>
                <a:extLst>
                  <a:ext uri="{0D108BD9-81ED-4DB2-BD59-A6C34878D82A}">
                    <a16:rowId xmlns:a16="http://schemas.microsoft.com/office/drawing/2014/main" val="1956003004"/>
                  </a:ext>
                </a:extLst>
              </a:tr>
              <a:tr h="340699">
                <a:tc>
                  <a:txBody>
                    <a:bodyPr/>
                    <a:lstStyle/>
                    <a:p>
                      <a:pPr algn="ctr"/>
                      <a:r>
                        <a:rPr lang="es-ES" dirty="0"/>
                        <a:t>24</a:t>
                      </a:r>
                    </a:p>
                  </a:txBody>
                  <a:tcPr/>
                </a:tc>
                <a:tc>
                  <a:txBody>
                    <a:bodyPr/>
                    <a:lstStyle/>
                    <a:p>
                      <a:pPr algn="ctr"/>
                      <a:r>
                        <a:rPr lang="es-ES" dirty="0" err="1"/>
                        <a:t>null</a:t>
                      </a:r>
                      <a:endParaRPr lang="es-ES" dirty="0"/>
                    </a:p>
                  </a:txBody>
                  <a:tcPr/>
                </a:tc>
                <a:extLst>
                  <a:ext uri="{0D108BD9-81ED-4DB2-BD59-A6C34878D82A}">
                    <a16:rowId xmlns:a16="http://schemas.microsoft.com/office/drawing/2014/main" val="3107179646"/>
                  </a:ext>
                </a:extLst>
              </a:tr>
              <a:tr h="340699">
                <a:tc>
                  <a:txBody>
                    <a:bodyPr/>
                    <a:lstStyle/>
                    <a:p>
                      <a:pPr algn="ctr"/>
                      <a:r>
                        <a:rPr lang="es-ES" dirty="0"/>
                        <a:t>55</a:t>
                      </a:r>
                    </a:p>
                  </a:txBody>
                  <a:tcPr/>
                </a:tc>
                <a:tc>
                  <a:txBody>
                    <a:bodyPr/>
                    <a:lstStyle/>
                    <a:p>
                      <a:pPr algn="ctr"/>
                      <a:r>
                        <a:rPr lang="es-ES" dirty="0"/>
                        <a:t>985</a:t>
                      </a:r>
                    </a:p>
                  </a:txBody>
                  <a:tcPr/>
                </a:tc>
                <a:extLst>
                  <a:ext uri="{0D108BD9-81ED-4DB2-BD59-A6C34878D82A}">
                    <a16:rowId xmlns:a16="http://schemas.microsoft.com/office/drawing/2014/main" val="1242578947"/>
                  </a:ext>
                </a:extLst>
              </a:tr>
              <a:tr h="340699">
                <a:tc>
                  <a:txBody>
                    <a:bodyPr/>
                    <a:lstStyle/>
                    <a:p>
                      <a:pPr algn="ctr"/>
                      <a:r>
                        <a:rPr lang="es-ES" dirty="0"/>
                        <a:t>33</a:t>
                      </a:r>
                    </a:p>
                  </a:txBody>
                  <a:tcPr/>
                </a:tc>
                <a:tc>
                  <a:txBody>
                    <a:bodyPr/>
                    <a:lstStyle/>
                    <a:p>
                      <a:pPr algn="ctr"/>
                      <a:r>
                        <a:rPr lang="es-ES" dirty="0"/>
                        <a:t>985</a:t>
                      </a:r>
                    </a:p>
                  </a:txBody>
                  <a:tcPr/>
                </a:tc>
                <a:extLst>
                  <a:ext uri="{0D108BD9-81ED-4DB2-BD59-A6C34878D82A}">
                    <a16:rowId xmlns:a16="http://schemas.microsoft.com/office/drawing/2014/main" val="692456752"/>
                  </a:ext>
                </a:extLst>
              </a:tr>
            </a:tbl>
          </a:graphicData>
        </a:graphic>
      </p:graphicFrame>
    </p:spTree>
    <p:extLst>
      <p:ext uri="{BB962C8B-B14F-4D97-AF65-F5344CB8AC3E}">
        <p14:creationId xmlns:p14="http://schemas.microsoft.com/office/powerpoint/2010/main" val="374339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DE1E4D9-BCB1-E06B-372C-AE95273582ED}"/>
              </a:ext>
            </a:extLst>
          </p:cNvPr>
          <p:cNvSpPr>
            <a:spLocks noGrp="1"/>
          </p:cNvSpPr>
          <p:nvPr>
            <p:ph type="body" sz="quarter" idx="10"/>
          </p:nvPr>
        </p:nvSpPr>
        <p:spPr/>
        <p:txBody>
          <a:bodyPr>
            <a:normAutofit fontScale="92500" lnSpcReduction="10000"/>
          </a:bodyPr>
          <a:lstStyle/>
          <a:p>
            <a:r>
              <a:rPr lang="es-ES" dirty="0" err="1"/>
              <a:t>Superclaves</a:t>
            </a:r>
            <a:endParaRPr lang="es-ES" dirty="0"/>
          </a:p>
        </p:txBody>
      </p:sp>
      <p:sp>
        <p:nvSpPr>
          <p:cNvPr id="3" name="CuadroTexto 2">
            <a:extLst>
              <a:ext uri="{FF2B5EF4-FFF2-40B4-BE49-F238E27FC236}">
                <a16:creationId xmlns:a16="http://schemas.microsoft.com/office/drawing/2014/main" id="{CE5319B8-E155-419B-FD0A-117480503E09}"/>
              </a:ext>
            </a:extLst>
          </p:cNvPr>
          <p:cNvSpPr txBox="1"/>
          <p:nvPr/>
        </p:nvSpPr>
        <p:spPr>
          <a:xfrm>
            <a:off x="777240" y="2048256"/>
            <a:ext cx="10305288" cy="3693319"/>
          </a:xfrm>
          <a:prstGeom prst="rect">
            <a:avLst/>
          </a:prstGeom>
          <a:noFill/>
        </p:spPr>
        <p:txBody>
          <a:bodyPr wrap="square" rtlCol="0">
            <a:spAutoFit/>
          </a:bodyPr>
          <a:lstStyle/>
          <a:p>
            <a:r>
              <a:rPr lang="es-ES" sz="1800" dirty="0">
                <a:effectLst/>
                <a:latin typeface="Calibri" panose="020F0502020204030204" pitchFamily="34" charset="0"/>
                <a:ea typeface="Calibri" panose="020F0502020204030204" pitchFamily="34" charset="0"/>
                <a:cs typeface="Times New Roman" panose="02020603050405020304" pitchFamily="18" charset="0"/>
              </a:rPr>
              <a:t>Una </a:t>
            </a:r>
            <a:r>
              <a:rPr lang="es-ES" sz="1800" b="1"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es el atributo o conjunto de atributos de una tabla que permiten distinguir una fila de otra.  </a:t>
            </a:r>
          </a:p>
          <a:p>
            <a:r>
              <a:rPr lang="es-ES" sz="1800" dirty="0">
                <a:effectLst/>
                <a:latin typeface="Calibri" panose="020F0502020204030204" pitchFamily="34" charset="0"/>
                <a:ea typeface="Calibri" panose="020F0502020204030204" pitchFamily="34" charset="0"/>
                <a:cs typeface="Times New Roman" panose="02020603050405020304" pitchFamily="18" charset="0"/>
              </a:rPr>
              <a:t>En la siguiente tabla:</a:t>
            </a:r>
          </a:p>
          <a:p>
            <a:endParaRPr lang="es-ES" dirty="0">
              <a:latin typeface="Calibri" panose="020F0502020204030204" pitchFamily="34" charset="0"/>
              <a:ea typeface="Calibri" panose="020F0502020204030204" pitchFamily="34" charset="0"/>
              <a:cs typeface="Times New Roman" panose="02020603050405020304" pitchFamily="18" charset="0"/>
            </a:endParaRPr>
          </a:p>
          <a:p>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dirty="0">
              <a:latin typeface="Calibri" panose="020F0502020204030204" pitchFamily="34" charset="0"/>
              <a:ea typeface="Calibri" panose="020F0502020204030204" pitchFamily="34" charset="0"/>
              <a:cs typeface="Times New Roman" panose="02020603050405020304" pitchFamily="18" charset="0"/>
            </a:endParaRPr>
          </a:p>
          <a:p>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dirty="0">
              <a:latin typeface="Calibri" panose="020F0502020204030204" pitchFamily="34" charset="0"/>
              <a:ea typeface="Calibri" panose="020F0502020204030204" pitchFamily="34" charset="0"/>
              <a:cs typeface="Times New Roman" panose="02020603050405020304" pitchFamily="18" charset="0"/>
            </a:endParaRPr>
          </a:p>
          <a:p>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r>
              <a:rPr lang="es-ES" sz="1800" dirty="0">
                <a:effectLst/>
                <a:latin typeface="Calibri" panose="020F0502020204030204" pitchFamily="34" charset="0"/>
                <a:ea typeface="Calibri" panose="020F0502020204030204" pitchFamily="34" charset="0"/>
                <a:cs typeface="Times New Roman" panose="02020603050405020304" pitchFamily="18" charset="0"/>
              </a:rPr>
              <a:t>{DNI} es una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{DNI, nombre} es una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{DNI, nombre, dirección, ciudad} es una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ya que introducidos valores para esos atributos, obtendremos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una y sólo una</a:t>
            </a:r>
            <a:r>
              <a:rPr lang="es-ES" sz="1800" dirty="0">
                <a:effectLst/>
                <a:latin typeface="Calibri" panose="020F0502020204030204" pitchFamily="34" charset="0"/>
                <a:ea typeface="Calibri" panose="020F0502020204030204" pitchFamily="34" charset="0"/>
                <a:cs typeface="Times New Roman" panose="02020603050405020304" pitchFamily="18" charset="0"/>
              </a:rPr>
              <a:t> fila de la tabla.  Observamos que, si le añadimos nuevos atributos a una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sigue siendo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dirty="0"/>
          </a:p>
        </p:txBody>
      </p:sp>
      <p:pic>
        <p:nvPicPr>
          <p:cNvPr id="5" name="Imagen 4">
            <a:extLst>
              <a:ext uri="{FF2B5EF4-FFF2-40B4-BE49-F238E27FC236}">
                <a16:creationId xmlns:a16="http://schemas.microsoft.com/office/drawing/2014/main" id="{50D867D2-F478-5BF4-EDFA-7492CEC9644A}"/>
              </a:ext>
            </a:extLst>
          </p:cNvPr>
          <p:cNvPicPr>
            <a:picLocks noChangeAspect="1"/>
          </p:cNvPicPr>
          <p:nvPr/>
        </p:nvPicPr>
        <p:blipFill>
          <a:blip r:embed="rId2"/>
          <a:stretch>
            <a:fillRect/>
          </a:stretch>
        </p:blipFill>
        <p:spPr>
          <a:xfrm>
            <a:off x="3371850" y="2667000"/>
            <a:ext cx="5448300" cy="1524000"/>
          </a:xfrm>
          <a:prstGeom prst="rect">
            <a:avLst/>
          </a:prstGeom>
        </p:spPr>
      </p:pic>
    </p:spTree>
    <p:extLst>
      <p:ext uri="{BB962C8B-B14F-4D97-AF65-F5344CB8AC3E}">
        <p14:creationId xmlns:p14="http://schemas.microsoft.com/office/powerpoint/2010/main" val="132566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EA8AB12-3267-9833-2419-7EEA63C8E846}"/>
              </a:ext>
            </a:extLst>
          </p:cNvPr>
          <p:cNvSpPr>
            <a:spLocks noGrp="1"/>
          </p:cNvSpPr>
          <p:nvPr>
            <p:ph type="body" sz="quarter" idx="10"/>
          </p:nvPr>
        </p:nvSpPr>
        <p:spPr/>
        <p:txBody>
          <a:bodyPr>
            <a:normAutofit fontScale="92500" lnSpcReduction="10000"/>
          </a:bodyPr>
          <a:lstStyle/>
          <a:p>
            <a:r>
              <a:rPr lang="es-ES" dirty="0"/>
              <a:t>Clave candidata</a:t>
            </a:r>
          </a:p>
        </p:txBody>
      </p:sp>
      <p:sp>
        <p:nvSpPr>
          <p:cNvPr id="3" name="CuadroTexto 2">
            <a:extLst>
              <a:ext uri="{FF2B5EF4-FFF2-40B4-BE49-F238E27FC236}">
                <a16:creationId xmlns:a16="http://schemas.microsoft.com/office/drawing/2014/main" id="{E76E5345-414F-471E-2062-76782BEE79E3}"/>
              </a:ext>
            </a:extLst>
          </p:cNvPr>
          <p:cNvSpPr txBox="1"/>
          <p:nvPr/>
        </p:nvSpPr>
        <p:spPr>
          <a:xfrm>
            <a:off x="1234440" y="1901952"/>
            <a:ext cx="10442448" cy="4597092"/>
          </a:xfrm>
          <a:prstGeom prst="rect">
            <a:avLst/>
          </a:prstGeom>
          <a:noFill/>
        </p:spPr>
        <p:txBody>
          <a:bodyPr wrap="square" rtlCol="0">
            <a:spAutoFit/>
          </a:bodyPr>
          <a:lstStyle/>
          <a:p>
            <a:pPr>
              <a:lnSpc>
                <a:spcPct val="107000"/>
              </a:lnSpc>
              <a:spcAft>
                <a:spcPts val="800"/>
              </a:spcAft>
            </a:pPr>
            <a:r>
              <a:rPr lang="es-ES" sz="1400" dirty="0">
                <a:effectLst/>
                <a:latin typeface="Calibri" panose="020F0502020204030204" pitchFamily="34" charset="0"/>
                <a:ea typeface="Calibri" panose="020F0502020204030204" pitchFamily="34" charset="0"/>
                <a:cs typeface="Times New Roman" panose="02020603050405020304" pitchFamily="18" charset="0"/>
              </a:rPr>
              <a:t>Una </a:t>
            </a:r>
            <a:r>
              <a:rPr lang="es-ES" sz="1400" b="1" dirty="0">
                <a:effectLst/>
                <a:latin typeface="Calibri" panose="020F0502020204030204" pitchFamily="34" charset="0"/>
                <a:ea typeface="Calibri" panose="020F0502020204030204" pitchFamily="34" charset="0"/>
                <a:cs typeface="Times New Roman" panose="02020603050405020304" pitchFamily="18" charset="0"/>
              </a:rPr>
              <a:t>clave candidata</a:t>
            </a:r>
            <a:r>
              <a:rPr lang="es-ES" sz="1400" dirty="0">
                <a:effectLst/>
                <a:latin typeface="Calibri" panose="020F0502020204030204" pitchFamily="34" charset="0"/>
                <a:ea typeface="Calibri" panose="020F0502020204030204" pitchFamily="34" charset="0"/>
                <a:cs typeface="Times New Roman" panose="02020603050405020304" pitchFamily="18" charset="0"/>
              </a:rPr>
              <a:t>, es una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400" dirty="0">
                <a:effectLst/>
                <a:latin typeface="Calibri" panose="020F0502020204030204" pitchFamily="34" charset="0"/>
                <a:ea typeface="Calibri" panose="020F0502020204030204" pitchFamily="34" charset="0"/>
                <a:cs typeface="Times New Roman" panose="02020603050405020304" pitchFamily="18" charset="0"/>
              </a:rPr>
              <a:t> en la que ningún subconjunto de atributos es una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400" dirty="0">
                <a:effectLst/>
                <a:latin typeface="Calibri" panose="020F0502020204030204" pitchFamily="34" charset="0"/>
                <a:ea typeface="Calibri" panose="020F0502020204030204" pitchFamily="34" charset="0"/>
                <a:cs typeface="Times New Roman" panose="02020603050405020304" pitchFamily="18" charset="0"/>
              </a:rPr>
              <a:t>, es decir es un </a:t>
            </a:r>
            <a:r>
              <a:rPr lang="es-ES" sz="1400" b="1" dirty="0">
                <a:effectLst/>
                <a:latin typeface="Calibri" panose="020F0502020204030204" pitchFamily="34" charset="0"/>
                <a:ea typeface="Calibri" panose="020F0502020204030204" pitchFamily="34" charset="0"/>
                <a:cs typeface="Times New Roman" panose="02020603050405020304" pitchFamily="18" charset="0"/>
              </a:rPr>
              <a:t>identificador mínimo</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400" dirty="0">
                <a:effectLst/>
                <a:latin typeface="Calibri" panose="020F0502020204030204" pitchFamily="34" charset="0"/>
                <a:ea typeface="Calibri" panose="020F0502020204030204" pitchFamily="34" charset="0"/>
                <a:cs typeface="Times New Roman" panose="02020603050405020304" pitchFamily="18" charset="0"/>
              </a:rPr>
              <a:t>En el ejemplo anterior, {DNI, nombre} no es una clave candidata, pues tiene un subconjunto, {DNI} que es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superclave</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400" dirty="0">
                <a:effectLst/>
                <a:latin typeface="Calibri" panose="020F0502020204030204" pitchFamily="34" charset="0"/>
                <a:ea typeface="Calibri" panose="020F0502020204030204" pitchFamily="34" charset="0"/>
                <a:cs typeface="Times New Roman" panose="02020603050405020304" pitchFamily="18" charset="0"/>
              </a:rPr>
              <a:t>Una relación (tabla) puede tener varias claves candidatas, imaginemos que incluimos en la tabla anterior un código de empleado. </a:t>
            </a:r>
          </a:p>
          <a:p>
            <a:pPr>
              <a:lnSpc>
                <a:spcPct val="107000"/>
              </a:lnSpc>
              <a:spcAft>
                <a:spcPts val="800"/>
              </a:spcAft>
            </a:pPr>
            <a:endParaRPr lang="es-E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400" dirty="0">
              <a:latin typeface="Calibri" panose="020F0502020204030204" pitchFamily="34" charset="0"/>
              <a:cs typeface="Times New Roman" panose="02020603050405020304" pitchFamily="18" charset="0"/>
            </a:endParaRPr>
          </a:p>
          <a:p>
            <a:pPr>
              <a:lnSpc>
                <a:spcPct val="107000"/>
              </a:lnSpc>
              <a:spcAft>
                <a:spcPts val="800"/>
              </a:spcAft>
            </a:pPr>
            <a:r>
              <a:rPr lang="es-ES" sz="1400" dirty="0">
                <a:latin typeface="Calibri" panose="020F0502020204030204" pitchFamily="34" charset="0"/>
                <a:cs typeface="Times New Roman" panose="02020603050405020304" pitchFamily="18" charset="0"/>
              </a:rPr>
              <a:t>{</a:t>
            </a:r>
            <a:r>
              <a:rPr lang="es-ES" sz="1400" dirty="0" err="1">
                <a:latin typeface="Calibri" panose="020F0502020204030204" pitchFamily="34" charset="0"/>
                <a:cs typeface="Times New Roman" panose="02020603050405020304" pitchFamily="18" charset="0"/>
              </a:rPr>
              <a:t>dni</a:t>
            </a:r>
            <a:r>
              <a:rPr lang="es-ES" sz="1400" dirty="0">
                <a:latin typeface="Calibri" panose="020F0502020204030204" pitchFamily="34" charset="0"/>
                <a:cs typeface="Times New Roman" panose="02020603050405020304" pitchFamily="18" charset="0"/>
              </a:rPr>
              <a:t>} es una clave candidata y {código} es otra clave candidata. {</a:t>
            </a:r>
            <a:r>
              <a:rPr lang="es-ES" sz="1400" dirty="0" err="1">
                <a:latin typeface="Calibri" panose="020F0502020204030204" pitchFamily="34" charset="0"/>
                <a:cs typeface="Times New Roman" panose="02020603050405020304" pitchFamily="18" charset="0"/>
              </a:rPr>
              <a:t>dni</a:t>
            </a:r>
            <a:r>
              <a:rPr lang="es-ES" sz="1400" dirty="0">
                <a:latin typeface="Calibri" panose="020F0502020204030204" pitchFamily="34" charset="0"/>
                <a:cs typeface="Times New Roman" panose="02020603050405020304" pitchFamily="18" charset="0"/>
              </a:rPr>
              <a:t>, código} no sería una clave candidata, sería una </a:t>
            </a:r>
            <a:r>
              <a:rPr lang="es-ES" sz="1400" dirty="0" err="1">
                <a:latin typeface="Calibri" panose="020F0502020204030204" pitchFamily="34" charset="0"/>
                <a:cs typeface="Times New Roman" panose="02020603050405020304" pitchFamily="18" charset="0"/>
              </a:rPr>
              <a:t>superclave</a:t>
            </a:r>
            <a:r>
              <a:rPr lang="es-ES" sz="1400" dirty="0">
                <a:latin typeface="Calibri" panose="020F0502020204030204" pitchFamily="34" charset="0"/>
                <a:cs typeface="Times New Roman" panose="02020603050405020304" pitchFamily="18" charset="0"/>
              </a:rPr>
              <a:t>, pues tienen un subconjunto que permite identificar de forma única a la fila. </a:t>
            </a:r>
          </a:p>
          <a:p>
            <a:pPr>
              <a:lnSpc>
                <a:spcPct val="107000"/>
              </a:lnSpc>
              <a:spcAft>
                <a:spcPts val="800"/>
              </a:spcAft>
            </a:pPr>
            <a:r>
              <a:rPr lang="es-ES" sz="1400" dirty="0">
                <a:latin typeface="Calibri" panose="020F0502020204030204" pitchFamily="34" charset="0"/>
                <a:cs typeface="Times New Roman" panose="02020603050405020304" pitchFamily="18" charset="0"/>
              </a:rPr>
              <a:t>En resumen, una </a:t>
            </a:r>
            <a:r>
              <a:rPr lang="es-ES" sz="1400" b="1" dirty="0">
                <a:latin typeface="Calibri" panose="020F0502020204030204" pitchFamily="34" charset="0"/>
                <a:cs typeface="Times New Roman" panose="02020603050405020304" pitchFamily="18" charset="0"/>
              </a:rPr>
              <a:t>clave candidata es una </a:t>
            </a:r>
            <a:r>
              <a:rPr lang="es-ES" sz="1400" b="1" dirty="0" err="1">
                <a:latin typeface="Calibri" panose="020F0502020204030204" pitchFamily="34" charset="0"/>
                <a:cs typeface="Times New Roman" panose="02020603050405020304" pitchFamily="18" charset="0"/>
              </a:rPr>
              <a:t>superclave</a:t>
            </a:r>
            <a:r>
              <a:rPr lang="es-ES" sz="1400" b="1" dirty="0">
                <a:latin typeface="Calibri" panose="020F0502020204030204" pitchFamily="34" charset="0"/>
                <a:cs typeface="Times New Roman" panose="02020603050405020304" pitchFamily="18" charset="0"/>
              </a:rPr>
              <a:t> formada por los atributos mínimos para identificar una fila de forma unívoca</a:t>
            </a:r>
            <a:r>
              <a:rPr lang="es-ES" sz="1400" dirty="0">
                <a:latin typeface="Calibri" panose="020F0502020204030204" pitchFamily="34" charset="0"/>
                <a:cs typeface="Times New Roman" panose="02020603050405020304" pitchFamily="18" charset="0"/>
              </a:rPr>
              <a:t>.</a:t>
            </a:r>
          </a:p>
          <a:p>
            <a:pPr>
              <a:lnSpc>
                <a:spcPct val="107000"/>
              </a:lnSpc>
              <a:spcAft>
                <a:spcPts val="800"/>
              </a:spcAft>
            </a:pP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dirty="0"/>
          </a:p>
        </p:txBody>
      </p:sp>
      <p:pic>
        <p:nvPicPr>
          <p:cNvPr id="4" name="Imagen 3">
            <a:extLst>
              <a:ext uri="{FF2B5EF4-FFF2-40B4-BE49-F238E27FC236}">
                <a16:creationId xmlns:a16="http://schemas.microsoft.com/office/drawing/2014/main" id="{0536DFD5-9038-699C-7DDC-22BFD9639C01}"/>
              </a:ext>
            </a:extLst>
          </p:cNvPr>
          <p:cNvPicPr>
            <a:picLocks noChangeAspect="1"/>
          </p:cNvPicPr>
          <p:nvPr/>
        </p:nvPicPr>
        <p:blipFill>
          <a:blip r:embed="rId2"/>
          <a:stretch>
            <a:fillRect/>
          </a:stretch>
        </p:blipFill>
        <p:spPr>
          <a:xfrm>
            <a:off x="2938780" y="2947110"/>
            <a:ext cx="5400040" cy="1313180"/>
          </a:xfrm>
          <a:prstGeom prst="rect">
            <a:avLst/>
          </a:prstGeom>
        </p:spPr>
      </p:pic>
    </p:spTree>
    <p:extLst>
      <p:ext uri="{BB962C8B-B14F-4D97-AF65-F5344CB8AC3E}">
        <p14:creationId xmlns:p14="http://schemas.microsoft.com/office/powerpoint/2010/main" val="1774144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CE438D0-CEB1-B73C-A92F-609276E288D7}"/>
              </a:ext>
            </a:extLst>
          </p:cNvPr>
          <p:cNvSpPr>
            <a:spLocks noGrp="1"/>
          </p:cNvSpPr>
          <p:nvPr>
            <p:ph type="body" sz="quarter" idx="10"/>
          </p:nvPr>
        </p:nvSpPr>
        <p:spPr/>
        <p:txBody>
          <a:bodyPr>
            <a:normAutofit fontScale="92500" lnSpcReduction="10000"/>
          </a:bodyPr>
          <a:lstStyle/>
          <a:p>
            <a:r>
              <a:rPr lang="es-ES" dirty="0"/>
              <a:t>Clave primaria</a:t>
            </a:r>
          </a:p>
        </p:txBody>
      </p:sp>
      <p:sp>
        <p:nvSpPr>
          <p:cNvPr id="3" name="CuadroTexto 2">
            <a:extLst>
              <a:ext uri="{FF2B5EF4-FFF2-40B4-BE49-F238E27FC236}">
                <a16:creationId xmlns:a16="http://schemas.microsoft.com/office/drawing/2014/main" id="{01565643-6088-5124-E79B-2DFAF9902817}"/>
              </a:ext>
            </a:extLst>
          </p:cNvPr>
          <p:cNvSpPr txBox="1"/>
          <p:nvPr/>
        </p:nvSpPr>
        <p:spPr>
          <a:xfrm>
            <a:off x="1280160" y="1920240"/>
            <a:ext cx="9857232" cy="1754326"/>
          </a:xfrm>
          <a:prstGeom prst="rect">
            <a:avLst/>
          </a:prstGeom>
          <a:noFill/>
        </p:spPr>
        <p:txBody>
          <a:bodyPr wrap="square" rtlCol="0">
            <a:spAutoFit/>
          </a:bodyPr>
          <a:lstStyle/>
          <a:p>
            <a:pPr algn="l"/>
            <a:endParaRPr lang="es-ES" sz="1800" b="0" i="0" u="none" strike="noStrike" baseline="0" dirty="0">
              <a:solidFill>
                <a:srgbClr val="000000"/>
              </a:solidFill>
              <a:latin typeface="Calibri" panose="020F0502020204030204" pitchFamily="34" charset="0"/>
            </a:endParaRPr>
          </a:p>
          <a:p>
            <a:r>
              <a:rPr lang="es-ES" sz="1800" b="0" i="0" u="none" strike="noStrike" baseline="0" dirty="0">
                <a:solidFill>
                  <a:srgbClr val="000000"/>
                </a:solidFill>
                <a:latin typeface="Calibri" panose="020F0502020204030204" pitchFamily="34" charset="0"/>
              </a:rPr>
              <a:t>La </a:t>
            </a:r>
            <a:r>
              <a:rPr lang="es-ES" sz="1800" b="1" i="0" u="none" strike="noStrike" baseline="0" dirty="0">
                <a:solidFill>
                  <a:srgbClr val="000000"/>
                </a:solidFill>
                <a:latin typeface="Calibri" panose="020F0502020204030204" pitchFamily="34" charset="0"/>
              </a:rPr>
              <a:t>clave primaria </a:t>
            </a:r>
            <a:r>
              <a:rPr lang="es-ES" sz="1800" b="0" i="0" u="none" strike="noStrike" baseline="0" dirty="0">
                <a:solidFill>
                  <a:srgbClr val="000000"/>
                </a:solidFill>
                <a:latin typeface="Calibri" panose="020F0502020204030204" pitchFamily="34" charset="0"/>
              </a:rPr>
              <a:t>de entre las claves candidatas es la que el diseñador escoge para que identifiquen a cada una de las ocurrencias o tuplas. No puede tomar valores nulos. </a:t>
            </a:r>
          </a:p>
          <a:p>
            <a:r>
              <a:rPr lang="es-E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Pude estar formada por varias claves candidatas</a:t>
            </a:r>
            <a:r>
              <a:rPr lang="es-ES" sz="1800" dirty="0">
                <a:effectLst/>
                <a:latin typeface="Calibri" panose="020F0502020204030204" pitchFamily="34" charset="0"/>
                <a:ea typeface="Calibri" panose="020F0502020204030204" pitchFamily="34" charset="0"/>
                <a:cs typeface="Times New Roman" panose="02020603050405020304" pitchFamily="18" charset="0"/>
              </a:rPr>
              <a:t>.  </a:t>
            </a:r>
          </a:p>
          <a:p>
            <a:r>
              <a:rPr lang="es-ES" dirty="0"/>
              <a:t>En el siguiente ejemplo:</a:t>
            </a:r>
          </a:p>
          <a:p>
            <a:endParaRPr lang="es-ES" dirty="0"/>
          </a:p>
        </p:txBody>
      </p:sp>
      <p:pic>
        <p:nvPicPr>
          <p:cNvPr id="5" name="Imagen 4">
            <a:extLst>
              <a:ext uri="{FF2B5EF4-FFF2-40B4-BE49-F238E27FC236}">
                <a16:creationId xmlns:a16="http://schemas.microsoft.com/office/drawing/2014/main" id="{B239DBFD-E907-D838-4CB0-6C9C6C8AE047}"/>
              </a:ext>
            </a:extLst>
          </p:cNvPr>
          <p:cNvPicPr>
            <a:picLocks noChangeAspect="1"/>
          </p:cNvPicPr>
          <p:nvPr/>
        </p:nvPicPr>
        <p:blipFill>
          <a:blip r:embed="rId2"/>
          <a:stretch>
            <a:fillRect/>
          </a:stretch>
        </p:blipFill>
        <p:spPr>
          <a:xfrm>
            <a:off x="1114426" y="3454725"/>
            <a:ext cx="10782300" cy="1076325"/>
          </a:xfrm>
          <a:prstGeom prst="rect">
            <a:avLst/>
          </a:prstGeom>
        </p:spPr>
      </p:pic>
      <p:sp>
        <p:nvSpPr>
          <p:cNvPr id="6" name="CuadroTexto 5">
            <a:extLst>
              <a:ext uri="{FF2B5EF4-FFF2-40B4-BE49-F238E27FC236}">
                <a16:creationId xmlns:a16="http://schemas.microsoft.com/office/drawing/2014/main" id="{C97EBC17-C83F-F736-E753-E3E13979F13B}"/>
              </a:ext>
            </a:extLst>
          </p:cNvPr>
          <p:cNvSpPr txBox="1"/>
          <p:nvPr/>
        </p:nvSpPr>
        <p:spPr>
          <a:xfrm>
            <a:off x="1600200" y="4672584"/>
            <a:ext cx="9537192" cy="646331"/>
          </a:xfrm>
          <a:prstGeom prst="rect">
            <a:avLst/>
          </a:prstGeom>
          <a:noFill/>
        </p:spPr>
        <p:txBody>
          <a:bodyPr wrap="square" rtlCol="0">
            <a:spAutoFit/>
          </a:bodyPr>
          <a:lstStyle/>
          <a:p>
            <a:r>
              <a:rPr lang="es-ES" sz="1800" b="0" i="0" u="none" strike="noStrike" baseline="0" dirty="0">
                <a:solidFill>
                  <a:srgbClr val="000000"/>
                </a:solidFill>
                <a:latin typeface="Calibri" panose="020F0502020204030204" pitchFamily="34" charset="0"/>
              </a:rPr>
              <a:t>El campo nombre_ equipo podría ser una clave primaria de la tabla equipo ya que identifica a cada equipo, es decir, no se repite. El campo </a:t>
            </a:r>
            <a:r>
              <a:rPr lang="es-ES" sz="1800" b="0" i="0" u="none" strike="noStrike" baseline="0" dirty="0" err="1">
                <a:solidFill>
                  <a:srgbClr val="000000"/>
                </a:solidFill>
                <a:latin typeface="Calibri" panose="020F0502020204030204" pitchFamily="34" charset="0"/>
              </a:rPr>
              <a:t>id_jugador</a:t>
            </a:r>
            <a:r>
              <a:rPr lang="es-ES" sz="1800" b="0" i="0" u="none" strike="noStrike" baseline="0" dirty="0">
                <a:solidFill>
                  <a:srgbClr val="000000"/>
                </a:solidFill>
                <a:latin typeface="Calibri" panose="020F0502020204030204" pitchFamily="34" charset="0"/>
              </a:rPr>
              <a:t> podría ser clave primaria de la tabla jugadores.</a:t>
            </a:r>
          </a:p>
        </p:txBody>
      </p:sp>
    </p:spTree>
    <p:extLst>
      <p:ext uri="{BB962C8B-B14F-4D97-AF65-F5344CB8AC3E}">
        <p14:creationId xmlns:p14="http://schemas.microsoft.com/office/powerpoint/2010/main" val="1371962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6DD347D-FF16-53CB-7AC0-4A0B49CD5DF8}"/>
              </a:ext>
            </a:extLst>
          </p:cNvPr>
          <p:cNvSpPr>
            <a:spLocks noGrp="1"/>
          </p:cNvSpPr>
          <p:nvPr>
            <p:ph type="body" sz="quarter" idx="10"/>
          </p:nvPr>
        </p:nvSpPr>
        <p:spPr/>
        <p:txBody>
          <a:bodyPr>
            <a:normAutofit fontScale="92500" lnSpcReduction="10000"/>
          </a:bodyPr>
          <a:lstStyle/>
          <a:p>
            <a:r>
              <a:rPr lang="es-ES" dirty="0"/>
              <a:t>Formas Normales</a:t>
            </a:r>
          </a:p>
        </p:txBody>
      </p:sp>
      <p:sp>
        <p:nvSpPr>
          <p:cNvPr id="3" name="CuadroTexto 2">
            <a:extLst>
              <a:ext uri="{FF2B5EF4-FFF2-40B4-BE49-F238E27FC236}">
                <a16:creationId xmlns:a16="http://schemas.microsoft.com/office/drawing/2014/main" id="{AF77833F-B1E2-0855-0DD0-C13E3142ECA1}"/>
              </a:ext>
            </a:extLst>
          </p:cNvPr>
          <p:cNvSpPr txBox="1"/>
          <p:nvPr/>
        </p:nvSpPr>
        <p:spPr>
          <a:xfrm>
            <a:off x="1810512" y="1975104"/>
            <a:ext cx="8641080" cy="5355312"/>
          </a:xfrm>
          <a:prstGeom prst="rect">
            <a:avLst/>
          </a:prstGeom>
          <a:noFill/>
        </p:spPr>
        <p:txBody>
          <a:bodyPr wrap="square" rtlCol="0">
            <a:spAutoFit/>
          </a:bodyPr>
          <a:lstStyle/>
          <a:p>
            <a:r>
              <a:rPr lang="es-ES" sz="1800" b="0" i="0" u="none" strike="noStrike" baseline="0" dirty="0">
                <a:solidFill>
                  <a:srgbClr val="000000"/>
                </a:solidFill>
                <a:latin typeface="Calibri" panose="020F0502020204030204" pitchFamily="34" charset="0"/>
              </a:rPr>
              <a:t>La Teoría de la Normalización organiza el cumplimiento de determinadas condiciones en lo que se conoce como FORMAS NORMALES. Las Formas Normales son: </a:t>
            </a:r>
          </a:p>
          <a:p>
            <a:pPr marL="285750" indent="-285750">
              <a:buFont typeface="Arial" panose="020B0604020202020204" pitchFamily="34" charset="0"/>
              <a:buChar char="•"/>
            </a:pPr>
            <a:r>
              <a:rPr lang="es-ES" sz="1800" b="0" i="0" u="none" strike="noStrike" baseline="0" dirty="0">
                <a:solidFill>
                  <a:srgbClr val="000000"/>
                </a:solidFill>
              </a:rPr>
              <a:t>Primera Forma Normal: 1FN </a:t>
            </a:r>
          </a:p>
          <a:p>
            <a:pPr marL="285750" indent="-285750">
              <a:buFont typeface="Arial" panose="020B0604020202020204" pitchFamily="34" charset="0"/>
              <a:buChar char="•"/>
            </a:pPr>
            <a:r>
              <a:rPr lang="es-ES" sz="1800" b="0" i="0" u="none" strike="noStrike" baseline="0" dirty="0">
                <a:solidFill>
                  <a:srgbClr val="000000"/>
                </a:solidFill>
              </a:rPr>
              <a:t>Segunda Forma Normal: 2FN </a:t>
            </a:r>
          </a:p>
          <a:p>
            <a:pPr marL="285750" indent="-285750">
              <a:buFont typeface="Arial" panose="020B0604020202020204" pitchFamily="34" charset="0"/>
              <a:buChar char="•"/>
            </a:pPr>
            <a:r>
              <a:rPr lang="es-ES" sz="1800" b="0" i="0" u="none" strike="noStrike" baseline="0" dirty="0">
                <a:solidFill>
                  <a:srgbClr val="000000"/>
                </a:solidFill>
              </a:rPr>
              <a:t>Tercera Forma Normal: 3FN </a:t>
            </a:r>
          </a:p>
          <a:p>
            <a:pPr marL="285750" indent="-285750">
              <a:buFont typeface="Arial" panose="020B0604020202020204" pitchFamily="34" charset="0"/>
              <a:buChar char="•"/>
            </a:pPr>
            <a:r>
              <a:rPr lang="es-ES" sz="1800" b="0" i="0" u="none" strike="noStrike" baseline="0" dirty="0">
                <a:solidFill>
                  <a:srgbClr val="000000"/>
                </a:solidFill>
                <a:latin typeface="Calibri" panose="020F0502020204030204" pitchFamily="34" charset="0"/>
              </a:rPr>
              <a:t>Forma Normal de </a:t>
            </a:r>
            <a:r>
              <a:rPr lang="es-ES" sz="1800" b="0" i="1" u="none" strike="noStrike" baseline="0" dirty="0">
                <a:solidFill>
                  <a:srgbClr val="000000"/>
                </a:solidFill>
                <a:latin typeface="Calibri" panose="020F0502020204030204" pitchFamily="34" charset="0"/>
              </a:rPr>
              <a:t>Boyce-Codd</a:t>
            </a:r>
            <a:r>
              <a:rPr lang="es-ES" sz="1800" b="0" i="0" u="none" strike="noStrike" baseline="0" dirty="0">
                <a:solidFill>
                  <a:srgbClr val="000000"/>
                </a:solidFill>
                <a:latin typeface="Calibri" panose="020F0502020204030204" pitchFamily="34" charset="0"/>
              </a:rPr>
              <a:t>: FNBC</a:t>
            </a:r>
          </a:p>
          <a:p>
            <a:pPr marL="285750" indent="-285750">
              <a:buFont typeface="Arial" panose="020B0604020202020204" pitchFamily="34" charset="0"/>
              <a:buChar char="•"/>
            </a:pPr>
            <a:r>
              <a:rPr lang="es-ES" sz="1800" b="0" i="0" u="none" strike="noStrike" baseline="0" dirty="0">
                <a:solidFill>
                  <a:srgbClr val="000000"/>
                </a:solidFill>
              </a:rPr>
              <a:t>Cuarta Forma Normal: 4FN </a:t>
            </a:r>
          </a:p>
          <a:p>
            <a:pPr marL="285750" indent="-285750">
              <a:buFont typeface="Arial" panose="020B0604020202020204" pitchFamily="34" charset="0"/>
              <a:buChar char="•"/>
            </a:pPr>
            <a:r>
              <a:rPr lang="es-ES" sz="1800" b="0" i="0" u="none" strike="noStrike" baseline="0" dirty="0">
                <a:solidFill>
                  <a:srgbClr val="000000"/>
                </a:solidFill>
              </a:rPr>
              <a:t>Quinta Forma Normal: 5FN </a:t>
            </a:r>
          </a:p>
          <a:p>
            <a:endParaRPr lang="es-ES" dirty="0">
              <a:solidFill>
                <a:srgbClr val="000000"/>
              </a:solidFill>
            </a:endParaRPr>
          </a:p>
          <a:p>
            <a:r>
              <a:rPr lang="es-ES" sz="1800" b="0" i="0" u="none" strike="noStrike" baseline="0" dirty="0">
                <a:solidFill>
                  <a:srgbClr val="000000"/>
                </a:solidFill>
                <a:latin typeface="Calibri" panose="020F0502020204030204" pitchFamily="34" charset="0"/>
              </a:rPr>
              <a:t>Las Formas Normales son progresivas, esto es, una BD está en 2FN si está en 1FN, y además cumple otras condiciones, y así sucesivamente. Se dice que, para un funcionamiento adecuado, con comprobar las 3 primeras formas es suficiente (en la metodología MÉTRICA por ejemplo). </a:t>
            </a:r>
            <a:endParaRPr lang="es-ES" sz="1800" b="0" i="0" u="none" strike="noStrike" baseline="0" dirty="0">
              <a:solidFill>
                <a:srgbClr val="000000"/>
              </a:solidFill>
            </a:endParaRPr>
          </a:p>
          <a:p>
            <a:pPr marL="285750" indent="-285750">
              <a:buFont typeface="Arial" panose="020B0604020202020204" pitchFamily="34" charset="0"/>
              <a:buChar char="•"/>
            </a:pPr>
            <a:endParaRPr lang="es-ES"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endParaRPr lang="es-ES"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endParaRPr lang="es-ES" sz="1800" b="0" i="0" u="none" strike="noStrike" baseline="0" dirty="0">
              <a:solidFill>
                <a:srgbClr val="000000"/>
              </a:solidFill>
            </a:endParaRPr>
          </a:p>
          <a:p>
            <a:pPr marL="285750" indent="-285750">
              <a:buFont typeface="Arial" panose="020B0604020202020204" pitchFamily="34" charset="0"/>
              <a:buChar char="•"/>
            </a:pPr>
            <a:endParaRPr lang="es-ES" sz="1800" b="0" i="0" u="none" strike="noStrike" baseline="0" dirty="0">
              <a:solidFill>
                <a:srgbClr val="000000"/>
              </a:solidFill>
            </a:endParaRPr>
          </a:p>
          <a:p>
            <a:pPr marL="285750" indent="-285750">
              <a:buFont typeface="Arial" panose="020B0604020202020204" pitchFamily="34" charset="0"/>
              <a:buChar char="•"/>
            </a:pPr>
            <a:endParaRPr lang="es-ES" sz="1800" b="0" i="0" u="none" strike="noStrike" baseline="0" dirty="0">
              <a:solidFill>
                <a:srgbClr val="000000"/>
              </a:solidFill>
            </a:endParaRPr>
          </a:p>
          <a:p>
            <a:pPr marL="285750" indent="-285750">
              <a:buFont typeface="Arial" panose="020B0604020202020204" pitchFamily="34" charset="0"/>
              <a:buChar char="•"/>
            </a:pPr>
            <a:endParaRPr lang="es-ES" dirty="0"/>
          </a:p>
        </p:txBody>
      </p:sp>
    </p:spTree>
    <p:extLst>
      <p:ext uri="{BB962C8B-B14F-4D97-AF65-F5344CB8AC3E}">
        <p14:creationId xmlns:p14="http://schemas.microsoft.com/office/powerpoint/2010/main" val="3247575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636279-B178-CB5C-202F-EC800EBBAA64}"/>
              </a:ext>
            </a:extLst>
          </p:cNvPr>
          <p:cNvSpPr>
            <a:spLocks noGrp="1"/>
          </p:cNvSpPr>
          <p:nvPr>
            <p:ph type="body" sz="quarter" idx="10"/>
          </p:nvPr>
        </p:nvSpPr>
        <p:spPr/>
        <p:txBody>
          <a:bodyPr>
            <a:normAutofit fontScale="92500" lnSpcReduction="10000"/>
          </a:bodyPr>
          <a:lstStyle/>
          <a:p>
            <a:r>
              <a:rPr lang="es-ES" dirty="0"/>
              <a:t>1FN (Primera forma normal)</a:t>
            </a:r>
          </a:p>
        </p:txBody>
      </p:sp>
      <p:sp>
        <p:nvSpPr>
          <p:cNvPr id="3" name="CuadroTexto 2">
            <a:extLst>
              <a:ext uri="{FF2B5EF4-FFF2-40B4-BE49-F238E27FC236}">
                <a16:creationId xmlns:a16="http://schemas.microsoft.com/office/drawing/2014/main" id="{FC402259-EB35-B79B-D294-48CDF23502F4}"/>
              </a:ext>
            </a:extLst>
          </p:cNvPr>
          <p:cNvSpPr txBox="1"/>
          <p:nvPr/>
        </p:nvSpPr>
        <p:spPr>
          <a:xfrm>
            <a:off x="1975104" y="2121408"/>
            <a:ext cx="8220456" cy="3631763"/>
          </a:xfrm>
          <a:prstGeom prst="rect">
            <a:avLst/>
          </a:prstGeom>
          <a:noFill/>
        </p:spPr>
        <p:txBody>
          <a:bodyPr wrap="square" rtlCol="0">
            <a:spAutoFit/>
          </a:bodyPr>
          <a:lstStyle/>
          <a:p>
            <a:r>
              <a:rPr lang="es-ES" sz="1600" b="0" i="1" u="none" strike="noStrike" baseline="0" dirty="0">
                <a:solidFill>
                  <a:srgbClr val="000000"/>
                </a:solidFill>
                <a:latin typeface="Calibri" panose="020F0502020204030204" pitchFamily="34" charset="0"/>
              </a:rPr>
              <a:t>Una tabla está en 1FN </a:t>
            </a:r>
            <a:r>
              <a:rPr lang="es-ES" sz="1600" b="1" i="1" u="none" strike="noStrike" baseline="0" dirty="0">
                <a:solidFill>
                  <a:srgbClr val="000000"/>
                </a:solidFill>
                <a:latin typeface="Calibri" panose="020F0502020204030204" pitchFamily="34" charset="0"/>
              </a:rPr>
              <a:t>cuando no tiene atributos multivaluados</a:t>
            </a:r>
            <a:r>
              <a:rPr lang="es-ES" sz="1600" b="0" i="1" u="none" strike="noStrike" baseline="0" dirty="0">
                <a:solidFill>
                  <a:srgbClr val="000000"/>
                </a:solidFill>
                <a:latin typeface="Calibri" panose="020F0502020204030204" pitchFamily="34" charset="0"/>
              </a:rPr>
              <a:t>. Es decir, cuando en cada registro cada campo toma un solo valor. </a:t>
            </a:r>
          </a:p>
          <a:p>
            <a:endParaRPr lang="es-ES" sz="1600" i="1" dirty="0">
              <a:solidFill>
                <a:srgbClr val="000000"/>
              </a:solidFill>
              <a:latin typeface="Calibri" panose="020F0502020204030204" pitchFamily="34" charset="0"/>
            </a:endParaRPr>
          </a:p>
          <a:p>
            <a:r>
              <a:rPr lang="es-ES" sz="1600" dirty="0">
                <a:effectLst/>
                <a:latin typeface="Calibri" panose="020F0502020204030204" pitchFamily="34" charset="0"/>
                <a:ea typeface="Calibri" panose="020F0502020204030204" pitchFamily="34" charset="0"/>
                <a:cs typeface="Times New Roman" panose="02020603050405020304" pitchFamily="18" charset="0"/>
              </a:rPr>
              <a:t>Esto se consigue utilizando dominios simples para los atributos como enteros, caracteres, fechas, etc.  </a:t>
            </a:r>
          </a:p>
          <a:p>
            <a:endParaRPr lang="es-ES" sz="1600" b="0" i="1" u="none" strike="noStrike" baseline="0" dirty="0">
              <a:solidFill>
                <a:srgbClr val="000000"/>
              </a:solidFill>
              <a:latin typeface="Calibri" panose="020F0502020204030204" pitchFamily="34" charset="0"/>
            </a:endParaRPr>
          </a:p>
          <a:p>
            <a:r>
              <a:rPr lang="es-ES" sz="1600" i="1" dirty="0">
                <a:solidFill>
                  <a:srgbClr val="000000"/>
                </a:solidFill>
                <a:latin typeface="Calibri" panose="020F0502020204030204" pitchFamily="34" charset="0"/>
              </a:rPr>
              <a:t>En la siguiente tabla:</a:t>
            </a:r>
          </a:p>
          <a:p>
            <a:endParaRPr lang="es-ES" sz="1600" b="0" i="1" u="none" strike="noStrike" baseline="0" dirty="0">
              <a:solidFill>
                <a:srgbClr val="000000"/>
              </a:solidFill>
              <a:latin typeface="Calibri" panose="020F0502020204030204" pitchFamily="34" charset="0"/>
            </a:endParaRPr>
          </a:p>
          <a:p>
            <a:r>
              <a:rPr lang="es-ES" sz="1600" dirty="0">
                <a:solidFill>
                  <a:srgbClr val="000000"/>
                </a:solidFill>
                <a:latin typeface="Calibri" panose="020F0502020204030204" pitchFamily="34" charset="0"/>
              </a:rPr>
              <a:t>Pedido</a:t>
            </a:r>
            <a:r>
              <a:rPr lang="es-ES" sz="1600" b="0" i="0" u="none" strike="noStrike" baseline="0" dirty="0">
                <a:solidFill>
                  <a:srgbClr val="000000"/>
                </a:solidFill>
                <a:latin typeface="Calibri" panose="020F0502020204030204" pitchFamily="34" charset="0"/>
              </a:rPr>
              <a:t> (</a:t>
            </a:r>
            <a:r>
              <a:rPr lang="es-ES" sz="1600" b="0" i="0" u="sng" strike="noStrike" baseline="0" dirty="0" err="1">
                <a:solidFill>
                  <a:srgbClr val="000000"/>
                </a:solidFill>
                <a:latin typeface="Calibri" panose="020F0502020204030204" pitchFamily="34" charset="0"/>
              </a:rPr>
              <a:t>codPedido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fechaPedido</a:t>
            </a:r>
            <a:r>
              <a:rPr lang="es-ES" sz="1600" dirty="0">
                <a:solidFill>
                  <a:srgbClr val="000000"/>
                </a:solidFill>
                <a:latin typeface="Calibri" panose="020F0502020204030204" pitchFamily="34" charset="0"/>
              </a:rPr>
              <a:t>, </a:t>
            </a:r>
            <a:r>
              <a:rPr lang="es-ES" sz="1600" dirty="0" err="1">
                <a:solidFill>
                  <a:srgbClr val="000000"/>
                </a:solidFill>
                <a:latin typeface="Calibri" panose="020F0502020204030204" pitchFamily="34" charset="0"/>
              </a:rPr>
              <a:t>codProducto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descProducto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codProveedor</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telfProveedor</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cantidadPedida</a:t>
            </a:r>
            <a:r>
              <a:rPr lang="es-ES" sz="1600" dirty="0">
                <a:solidFill>
                  <a:srgbClr val="000000"/>
                </a:solidFill>
                <a:latin typeface="Calibri" panose="020F0502020204030204" pitchFamily="34" charset="0"/>
              </a:rPr>
              <a:t>)</a:t>
            </a:r>
          </a:p>
          <a:p>
            <a:r>
              <a:rPr lang="es-ES" sz="1600" b="0" i="1" u="none" strike="noStrike" baseline="0" dirty="0">
                <a:solidFill>
                  <a:srgbClr val="000000"/>
                </a:solidFill>
                <a:latin typeface="Calibri" panose="020F0502020204030204" pitchFamily="34" charset="0"/>
              </a:rPr>
              <a:t>Esta relación no est</a:t>
            </a:r>
            <a:r>
              <a:rPr lang="es-ES" sz="1600" i="1" dirty="0">
                <a:solidFill>
                  <a:srgbClr val="000000"/>
                </a:solidFill>
                <a:latin typeface="Calibri" panose="020F0502020204030204" pitchFamily="34" charset="0"/>
              </a:rPr>
              <a:t>á en 1FN ya que para un código de pedido existen varios códigos de producto</a:t>
            </a:r>
            <a:endParaRPr lang="es-ES" sz="1600" b="0" i="1" u="none" strike="noStrike" baseline="0" dirty="0">
              <a:solidFill>
                <a:srgbClr val="000000"/>
              </a:solidFill>
              <a:latin typeface="Calibri" panose="020F0502020204030204" pitchFamily="34" charset="0"/>
            </a:endParaRPr>
          </a:p>
          <a:p>
            <a:r>
              <a:rPr lang="es-ES" i="1" dirty="0">
                <a:solidFill>
                  <a:srgbClr val="000000"/>
                </a:solidFill>
                <a:latin typeface="Calibri" panose="020F0502020204030204" pitchFamily="34" charset="0"/>
              </a:rPr>
              <a:t>				</a:t>
            </a:r>
            <a:r>
              <a:rPr lang="es-ES" b="1" i="1" dirty="0">
                <a:solidFill>
                  <a:srgbClr val="000000"/>
                </a:solidFill>
                <a:latin typeface="Calibri" panose="020F0502020204030204" pitchFamily="34" charset="0"/>
              </a:rPr>
              <a:t>Pedido</a:t>
            </a:r>
          </a:p>
          <a:p>
            <a:endParaRPr lang="es-ES" i="1" dirty="0">
              <a:solidFill>
                <a:srgbClr val="000000"/>
              </a:solidFill>
              <a:latin typeface="Calibri" panose="020F0502020204030204" pitchFamily="34" charset="0"/>
            </a:endParaRPr>
          </a:p>
          <a:p>
            <a:endParaRPr lang="es-ES" dirty="0"/>
          </a:p>
        </p:txBody>
      </p:sp>
      <p:graphicFrame>
        <p:nvGraphicFramePr>
          <p:cNvPr id="5" name="Tabla 5">
            <a:extLst>
              <a:ext uri="{FF2B5EF4-FFF2-40B4-BE49-F238E27FC236}">
                <a16:creationId xmlns:a16="http://schemas.microsoft.com/office/drawing/2014/main" id="{63F4E056-63C6-3604-F372-F783FBE1FD9D}"/>
              </a:ext>
            </a:extLst>
          </p:cNvPr>
          <p:cNvGraphicFramePr>
            <a:graphicFrameLocks noGrp="1"/>
          </p:cNvGraphicFramePr>
          <p:nvPr>
            <p:extLst>
              <p:ext uri="{D42A27DB-BD31-4B8C-83A1-F6EECF244321}">
                <p14:modId xmlns:p14="http://schemas.microsoft.com/office/powerpoint/2010/main" val="1675325883"/>
              </p:ext>
            </p:extLst>
          </p:nvPr>
        </p:nvGraphicFramePr>
        <p:xfrm>
          <a:off x="2224024" y="5196911"/>
          <a:ext cx="9544304" cy="1590040"/>
        </p:xfrm>
        <a:graphic>
          <a:graphicData uri="http://schemas.openxmlformats.org/drawingml/2006/table">
            <a:tbl>
              <a:tblPr firstRow="1" bandRow="1">
                <a:tableStyleId>{5C22544A-7EE6-4342-B048-85BDC9FD1C3A}</a:tableStyleId>
              </a:tblPr>
              <a:tblGrid>
                <a:gridCol w="1363472">
                  <a:extLst>
                    <a:ext uri="{9D8B030D-6E8A-4147-A177-3AD203B41FA5}">
                      <a16:colId xmlns:a16="http://schemas.microsoft.com/office/drawing/2014/main" val="2747983945"/>
                    </a:ext>
                  </a:extLst>
                </a:gridCol>
                <a:gridCol w="1363472">
                  <a:extLst>
                    <a:ext uri="{9D8B030D-6E8A-4147-A177-3AD203B41FA5}">
                      <a16:colId xmlns:a16="http://schemas.microsoft.com/office/drawing/2014/main" val="724778901"/>
                    </a:ext>
                  </a:extLst>
                </a:gridCol>
                <a:gridCol w="1363472">
                  <a:extLst>
                    <a:ext uri="{9D8B030D-6E8A-4147-A177-3AD203B41FA5}">
                      <a16:colId xmlns:a16="http://schemas.microsoft.com/office/drawing/2014/main" val="864893334"/>
                    </a:ext>
                  </a:extLst>
                </a:gridCol>
                <a:gridCol w="1540256">
                  <a:extLst>
                    <a:ext uri="{9D8B030D-6E8A-4147-A177-3AD203B41FA5}">
                      <a16:colId xmlns:a16="http://schemas.microsoft.com/office/drawing/2014/main" val="777985964"/>
                    </a:ext>
                  </a:extLst>
                </a:gridCol>
                <a:gridCol w="1335024">
                  <a:extLst>
                    <a:ext uri="{9D8B030D-6E8A-4147-A177-3AD203B41FA5}">
                      <a16:colId xmlns:a16="http://schemas.microsoft.com/office/drawing/2014/main" val="3864181006"/>
                    </a:ext>
                  </a:extLst>
                </a:gridCol>
                <a:gridCol w="1215136">
                  <a:extLst>
                    <a:ext uri="{9D8B030D-6E8A-4147-A177-3AD203B41FA5}">
                      <a16:colId xmlns:a16="http://schemas.microsoft.com/office/drawing/2014/main" val="915329461"/>
                    </a:ext>
                  </a:extLst>
                </a:gridCol>
                <a:gridCol w="1363472">
                  <a:extLst>
                    <a:ext uri="{9D8B030D-6E8A-4147-A177-3AD203B41FA5}">
                      <a16:colId xmlns:a16="http://schemas.microsoft.com/office/drawing/2014/main" val="2396819100"/>
                    </a:ext>
                  </a:extLst>
                </a:gridCol>
              </a:tblGrid>
              <a:tr h="370840">
                <a:tc>
                  <a:txBody>
                    <a:bodyPr/>
                    <a:lstStyle/>
                    <a:p>
                      <a:r>
                        <a:rPr lang="es-ES" sz="1400" dirty="0" err="1"/>
                        <a:t>codPedido</a:t>
                      </a:r>
                      <a:endParaRPr lang="es-ES" sz="1400" dirty="0"/>
                    </a:p>
                  </a:txBody>
                  <a:tcPr/>
                </a:tc>
                <a:tc>
                  <a:txBody>
                    <a:bodyPr/>
                    <a:lstStyle/>
                    <a:p>
                      <a:r>
                        <a:rPr lang="es-ES" sz="1400" dirty="0" err="1"/>
                        <a:t>fechaPedido</a:t>
                      </a:r>
                      <a:endParaRPr lang="es-ES" sz="1400" dirty="0"/>
                    </a:p>
                  </a:txBody>
                  <a:tcPr/>
                </a:tc>
                <a:tc>
                  <a:txBody>
                    <a:bodyPr/>
                    <a:lstStyle/>
                    <a:p>
                      <a:r>
                        <a:rPr lang="es-ES" sz="1400" dirty="0" err="1"/>
                        <a:t>codProducto</a:t>
                      </a:r>
                      <a:endParaRPr lang="es-ES" sz="1400" dirty="0"/>
                    </a:p>
                  </a:txBody>
                  <a:tcPr/>
                </a:tc>
                <a:tc>
                  <a:txBody>
                    <a:bodyPr/>
                    <a:lstStyle/>
                    <a:p>
                      <a:r>
                        <a:rPr lang="es-ES" sz="1400" dirty="0" err="1"/>
                        <a:t>descProducto</a:t>
                      </a:r>
                      <a:endParaRPr lang="es-ES" sz="1400" dirty="0"/>
                    </a:p>
                  </a:txBody>
                  <a:tcPr/>
                </a:tc>
                <a:tc>
                  <a:txBody>
                    <a:bodyPr/>
                    <a:lstStyle/>
                    <a:p>
                      <a:r>
                        <a:rPr lang="es-ES" sz="1400" dirty="0" err="1"/>
                        <a:t>codProvvedor</a:t>
                      </a:r>
                      <a:endParaRPr lang="es-ES" sz="1400" dirty="0"/>
                    </a:p>
                  </a:txBody>
                  <a:tcPr/>
                </a:tc>
                <a:tc>
                  <a:txBody>
                    <a:bodyPr/>
                    <a:lstStyle/>
                    <a:p>
                      <a:r>
                        <a:rPr lang="es-ES" sz="1400" dirty="0" err="1"/>
                        <a:t>telfProveedor</a:t>
                      </a:r>
                      <a:endParaRPr lang="es-ES" sz="1400" dirty="0"/>
                    </a:p>
                  </a:txBody>
                  <a:tcPr/>
                </a:tc>
                <a:tc>
                  <a:txBody>
                    <a:bodyPr/>
                    <a:lstStyle/>
                    <a:p>
                      <a:r>
                        <a:rPr lang="es-ES" sz="1400" dirty="0" err="1"/>
                        <a:t>cantidadPedida</a:t>
                      </a:r>
                      <a:endParaRPr lang="es-ES" sz="1400" dirty="0"/>
                    </a:p>
                  </a:txBody>
                  <a:tcPr/>
                </a:tc>
                <a:extLst>
                  <a:ext uri="{0D108BD9-81ED-4DB2-BD59-A6C34878D82A}">
                    <a16:rowId xmlns:a16="http://schemas.microsoft.com/office/drawing/2014/main" val="3175739051"/>
                  </a:ext>
                </a:extLst>
              </a:tr>
              <a:tr h="185420">
                <a:tc rowSpan="2">
                  <a:txBody>
                    <a:bodyPr/>
                    <a:lstStyle/>
                    <a:p>
                      <a:pPr algn="ctr"/>
                      <a:r>
                        <a:rPr lang="es-ES" sz="1400" dirty="0"/>
                        <a:t>001</a:t>
                      </a:r>
                    </a:p>
                  </a:txBody>
                  <a:tcPr/>
                </a:tc>
                <a:tc rowSpan="2">
                  <a:txBody>
                    <a:bodyPr/>
                    <a:lstStyle/>
                    <a:p>
                      <a:pPr algn="ctr"/>
                      <a:r>
                        <a:rPr lang="es-ES" sz="1400" dirty="0"/>
                        <a:t>12/02/21</a:t>
                      </a:r>
                    </a:p>
                  </a:txBody>
                  <a:tcPr/>
                </a:tc>
                <a:tc>
                  <a:txBody>
                    <a:bodyPr/>
                    <a:lstStyle/>
                    <a:p>
                      <a:pPr algn="ctr"/>
                      <a:r>
                        <a:rPr lang="es-ES" sz="1400" dirty="0"/>
                        <a:t>010</a:t>
                      </a:r>
                    </a:p>
                  </a:txBody>
                  <a:tcPr/>
                </a:tc>
                <a:tc>
                  <a:txBody>
                    <a:bodyPr/>
                    <a:lstStyle/>
                    <a:p>
                      <a:pPr algn="ctr"/>
                      <a:r>
                        <a:rPr lang="es-ES" sz="1400" dirty="0"/>
                        <a:t>Galletas</a:t>
                      </a:r>
                    </a:p>
                  </a:txBody>
                  <a:tcPr/>
                </a:tc>
                <a:tc>
                  <a:txBody>
                    <a:bodyPr/>
                    <a:lstStyle/>
                    <a:p>
                      <a:pPr algn="ctr"/>
                      <a:r>
                        <a:rPr lang="es-ES" sz="1400" dirty="0"/>
                        <a:t>10</a:t>
                      </a:r>
                    </a:p>
                  </a:txBody>
                  <a:tcPr/>
                </a:tc>
                <a:tc>
                  <a:txBody>
                    <a:bodyPr/>
                    <a:lstStyle/>
                    <a:p>
                      <a:pPr algn="ctr"/>
                      <a:r>
                        <a:rPr lang="es-ES" sz="1400" dirty="0"/>
                        <a:t>111</a:t>
                      </a:r>
                    </a:p>
                  </a:txBody>
                  <a:tcPr/>
                </a:tc>
                <a:tc>
                  <a:txBody>
                    <a:bodyPr/>
                    <a:lstStyle/>
                    <a:p>
                      <a:pPr algn="ctr"/>
                      <a:r>
                        <a:rPr lang="es-ES" sz="1400" dirty="0"/>
                        <a:t>5</a:t>
                      </a:r>
                    </a:p>
                  </a:txBody>
                  <a:tcPr/>
                </a:tc>
                <a:extLst>
                  <a:ext uri="{0D108BD9-81ED-4DB2-BD59-A6C34878D82A}">
                    <a16:rowId xmlns:a16="http://schemas.microsoft.com/office/drawing/2014/main" val="3929596607"/>
                  </a:ext>
                </a:extLst>
              </a:tr>
              <a:tr h="185420">
                <a:tc vMerge="1">
                  <a:txBody>
                    <a:bodyPr/>
                    <a:lstStyle/>
                    <a:p>
                      <a:endParaRPr lang="es-ES"/>
                    </a:p>
                  </a:txBody>
                  <a:tcPr/>
                </a:tc>
                <a:tc vMerge="1">
                  <a:txBody>
                    <a:bodyPr/>
                    <a:lstStyle/>
                    <a:p>
                      <a:endParaRPr lang="es-ES"/>
                    </a:p>
                  </a:txBody>
                  <a:tcPr/>
                </a:tc>
                <a:tc>
                  <a:txBody>
                    <a:bodyPr/>
                    <a:lstStyle/>
                    <a:p>
                      <a:pPr algn="ctr"/>
                      <a:r>
                        <a:rPr lang="es-ES" sz="1400" dirty="0"/>
                        <a:t>020</a:t>
                      </a:r>
                    </a:p>
                  </a:txBody>
                  <a:tcPr/>
                </a:tc>
                <a:tc>
                  <a:txBody>
                    <a:bodyPr/>
                    <a:lstStyle/>
                    <a:p>
                      <a:pPr algn="ctr"/>
                      <a:r>
                        <a:rPr lang="es-ES" sz="1400" dirty="0"/>
                        <a:t>Zumo</a:t>
                      </a:r>
                    </a:p>
                  </a:txBody>
                  <a:tcPr/>
                </a:tc>
                <a:tc>
                  <a:txBody>
                    <a:bodyPr/>
                    <a:lstStyle/>
                    <a:p>
                      <a:pPr algn="ctr"/>
                      <a:r>
                        <a:rPr lang="es-ES" sz="1400" dirty="0"/>
                        <a:t>20</a:t>
                      </a:r>
                    </a:p>
                  </a:txBody>
                  <a:tcPr/>
                </a:tc>
                <a:tc>
                  <a:txBody>
                    <a:bodyPr/>
                    <a:lstStyle/>
                    <a:p>
                      <a:pPr algn="ctr"/>
                      <a:r>
                        <a:rPr lang="es-ES" sz="1400" dirty="0"/>
                        <a:t>222</a:t>
                      </a:r>
                    </a:p>
                  </a:txBody>
                  <a:tcPr/>
                </a:tc>
                <a:tc>
                  <a:txBody>
                    <a:bodyPr/>
                    <a:lstStyle/>
                    <a:p>
                      <a:pPr algn="ctr"/>
                      <a:r>
                        <a:rPr lang="es-ES" sz="1400" dirty="0"/>
                        <a:t>2</a:t>
                      </a:r>
                    </a:p>
                  </a:txBody>
                  <a:tcPr/>
                </a:tc>
                <a:extLst>
                  <a:ext uri="{0D108BD9-81ED-4DB2-BD59-A6C34878D82A}">
                    <a16:rowId xmlns:a16="http://schemas.microsoft.com/office/drawing/2014/main" val="1879666782"/>
                  </a:ext>
                </a:extLst>
              </a:tr>
              <a:tr h="185420">
                <a:tc rowSpan="2">
                  <a:txBody>
                    <a:bodyPr/>
                    <a:lstStyle/>
                    <a:p>
                      <a:pPr algn="ctr"/>
                      <a:r>
                        <a:rPr lang="es-ES" sz="1400" dirty="0"/>
                        <a:t>002</a:t>
                      </a:r>
                    </a:p>
                  </a:txBody>
                  <a:tcPr/>
                </a:tc>
                <a:tc rowSpan="2">
                  <a:txBody>
                    <a:bodyPr/>
                    <a:lstStyle/>
                    <a:p>
                      <a:pPr algn="ctr"/>
                      <a:r>
                        <a:rPr lang="es-ES" sz="1400" dirty="0"/>
                        <a:t>11/3/21</a:t>
                      </a:r>
                    </a:p>
                  </a:txBody>
                  <a:tcPr/>
                </a:tc>
                <a:tc>
                  <a:txBody>
                    <a:bodyPr/>
                    <a:lstStyle/>
                    <a:p>
                      <a:pPr algn="ctr"/>
                      <a:r>
                        <a:rPr lang="es-ES" sz="1400" dirty="0"/>
                        <a:t>030</a:t>
                      </a:r>
                    </a:p>
                  </a:txBody>
                  <a:tcPr/>
                </a:tc>
                <a:tc>
                  <a:txBody>
                    <a:bodyPr/>
                    <a:lstStyle/>
                    <a:p>
                      <a:pPr algn="ctr"/>
                      <a:r>
                        <a:rPr lang="es-ES" sz="1400" dirty="0"/>
                        <a:t>Detergente</a:t>
                      </a:r>
                    </a:p>
                  </a:txBody>
                  <a:tcPr/>
                </a:tc>
                <a:tc>
                  <a:txBody>
                    <a:bodyPr/>
                    <a:lstStyle/>
                    <a:p>
                      <a:pPr algn="ctr"/>
                      <a:r>
                        <a:rPr lang="es-ES" sz="1400" dirty="0"/>
                        <a:t>30</a:t>
                      </a:r>
                    </a:p>
                  </a:txBody>
                  <a:tcPr/>
                </a:tc>
                <a:tc>
                  <a:txBody>
                    <a:bodyPr/>
                    <a:lstStyle/>
                    <a:p>
                      <a:pPr algn="ctr"/>
                      <a:r>
                        <a:rPr lang="es-ES" sz="1400" dirty="0"/>
                        <a:t>333</a:t>
                      </a:r>
                    </a:p>
                  </a:txBody>
                  <a:tcPr/>
                </a:tc>
                <a:tc>
                  <a:txBody>
                    <a:bodyPr/>
                    <a:lstStyle/>
                    <a:p>
                      <a:pPr algn="ctr"/>
                      <a:r>
                        <a:rPr lang="es-ES" sz="1400" dirty="0"/>
                        <a:t>6</a:t>
                      </a:r>
                    </a:p>
                  </a:txBody>
                  <a:tcPr/>
                </a:tc>
                <a:extLst>
                  <a:ext uri="{0D108BD9-81ED-4DB2-BD59-A6C34878D82A}">
                    <a16:rowId xmlns:a16="http://schemas.microsoft.com/office/drawing/2014/main" val="1831267199"/>
                  </a:ext>
                </a:extLst>
              </a:tr>
              <a:tr h="185420">
                <a:tc vMerge="1">
                  <a:txBody>
                    <a:bodyPr/>
                    <a:lstStyle/>
                    <a:p>
                      <a:endParaRPr lang="es-ES"/>
                    </a:p>
                  </a:txBody>
                  <a:tcPr/>
                </a:tc>
                <a:tc vMerge="1">
                  <a:txBody>
                    <a:bodyPr/>
                    <a:lstStyle/>
                    <a:p>
                      <a:endParaRPr lang="es-ES"/>
                    </a:p>
                  </a:txBody>
                  <a:tcPr/>
                </a:tc>
                <a:tc>
                  <a:txBody>
                    <a:bodyPr/>
                    <a:lstStyle/>
                    <a:p>
                      <a:pPr algn="ctr"/>
                      <a:r>
                        <a:rPr lang="es-ES" sz="1400" dirty="0"/>
                        <a:t>040</a:t>
                      </a:r>
                    </a:p>
                  </a:txBody>
                  <a:tcPr/>
                </a:tc>
                <a:tc>
                  <a:txBody>
                    <a:bodyPr/>
                    <a:lstStyle/>
                    <a:p>
                      <a:pPr algn="ctr"/>
                      <a:r>
                        <a:rPr lang="es-ES" sz="1400" dirty="0"/>
                        <a:t>Vino</a:t>
                      </a:r>
                    </a:p>
                  </a:txBody>
                  <a:tcPr/>
                </a:tc>
                <a:tc>
                  <a:txBody>
                    <a:bodyPr/>
                    <a:lstStyle/>
                    <a:p>
                      <a:pPr algn="ctr"/>
                      <a:r>
                        <a:rPr lang="es-ES" sz="1400" dirty="0"/>
                        <a:t>40</a:t>
                      </a:r>
                    </a:p>
                  </a:txBody>
                  <a:tcPr/>
                </a:tc>
                <a:tc>
                  <a:txBody>
                    <a:bodyPr/>
                    <a:lstStyle/>
                    <a:p>
                      <a:pPr algn="ctr"/>
                      <a:r>
                        <a:rPr lang="es-ES" sz="1400" dirty="0"/>
                        <a:t>444</a:t>
                      </a:r>
                    </a:p>
                  </a:txBody>
                  <a:tcPr/>
                </a:tc>
                <a:tc>
                  <a:txBody>
                    <a:bodyPr/>
                    <a:lstStyle/>
                    <a:p>
                      <a:pPr algn="ctr"/>
                      <a:r>
                        <a:rPr lang="es-ES" sz="1400" dirty="0"/>
                        <a:t>2</a:t>
                      </a:r>
                    </a:p>
                  </a:txBody>
                  <a:tcPr/>
                </a:tc>
                <a:extLst>
                  <a:ext uri="{0D108BD9-81ED-4DB2-BD59-A6C34878D82A}">
                    <a16:rowId xmlns:a16="http://schemas.microsoft.com/office/drawing/2014/main" val="20915923"/>
                  </a:ext>
                </a:extLst>
              </a:tr>
            </a:tbl>
          </a:graphicData>
        </a:graphic>
      </p:graphicFrame>
    </p:spTree>
    <p:extLst>
      <p:ext uri="{BB962C8B-B14F-4D97-AF65-F5344CB8AC3E}">
        <p14:creationId xmlns:p14="http://schemas.microsoft.com/office/powerpoint/2010/main" val="946170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44FCCE3-6B52-167D-0B5E-997C05087D9D}"/>
              </a:ext>
            </a:extLst>
          </p:cNvPr>
          <p:cNvSpPr>
            <a:spLocks noGrp="1"/>
          </p:cNvSpPr>
          <p:nvPr>
            <p:ph type="body" sz="quarter" idx="10"/>
          </p:nvPr>
        </p:nvSpPr>
        <p:spPr/>
        <p:txBody>
          <a:bodyPr>
            <a:normAutofit fontScale="92500" lnSpcReduction="10000"/>
          </a:bodyPr>
          <a:lstStyle/>
          <a:p>
            <a:r>
              <a:rPr lang="es-ES" dirty="0"/>
              <a:t>Solución</a:t>
            </a:r>
          </a:p>
        </p:txBody>
      </p:sp>
      <p:sp>
        <p:nvSpPr>
          <p:cNvPr id="4" name="CuadroTexto 3">
            <a:extLst>
              <a:ext uri="{FF2B5EF4-FFF2-40B4-BE49-F238E27FC236}">
                <a16:creationId xmlns:a16="http://schemas.microsoft.com/office/drawing/2014/main" id="{D745AD13-8A6C-5612-33BF-84709513BD65}"/>
              </a:ext>
            </a:extLst>
          </p:cNvPr>
          <p:cNvSpPr txBox="1"/>
          <p:nvPr/>
        </p:nvSpPr>
        <p:spPr>
          <a:xfrm>
            <a:off x="1161288" y="1892808"/>
            <a:ext cx="9957816" cy="2031325"/>
          </a:xfrm>
          <a:prstGeom prst="rect">
            <a:avLst/>
          </a:prstGeom>
          <a:noFill/>
        </p:spPr>
        <p:txBody>
          <a:bodyPr wrap="square" rtlCol="0">
            <a:spAutoFit/>
          </a:bodyPr>
          <a:lstStyle/>
          <a:p>
            <a:r>
              <a:rPr lang="es-ES" dirty="0"/>
              <a:t>Con los atributos que tienen varios valores para uno concreto de la clave, </a:t>
            </a:r>
            <a:r>
              <a:rPr lang="es-ES" b="1" dirty="0"/>
              <a:t>se formará con ellos una nueva relación </a:t>
            </a:r>
            <a:r>
              <a:rPr lang="es-ES" dirty="0"/>
              <a:t>y se </a:t>
            </a:r>
            <a:r>
              <a:rPr lang="es-ES" b="1" dirty="0"/>
              <a:t>eliminarán de la antigua</a:t>
            </a:r>
            <a:r>
              <a:rPr lang="es-ES" dirty="0"/>
              <a:t>. La clave primaria de la nueva relación estará formada por la concatenación de uno o varios de sus atributos y la clave principal de la antigua.</a:t>
            </a:r>
          </a:p>
          <a:p>
            <a:r>
              <a:rPr lang="es-ES" dirty="0"/>
              <a:t>En el ejemplo anterior:</a:t>
            </a:r>
          </a:p>
          <a:p>
            <a:r>
              <a:rPr lang="es-ES" dirty="0"/>
              <a:t>Pedido(</a:t>
            </a:r>
            <a:r>
              <a:rPr lang="es-ES" sz="1800" b="0" i="0" u="sng" strike="noStrike" baseline="0" dirty="0" err="1">
                <a:solidFill>
                  <a:srgbClr val="000000"/>
                </a:solidFill>
                <a:latin typeface="Calibri" panose="020F0502020204030204" pitchFamily="34" charset="0"/>
              </a:rPr>
              <a:t>codPedido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fechaPedido</a:t>
            </a:r>
            <a:r>
              <a:rPr lang="es-ES" sz="1800" b="0" i="0" u="none" strike="noStrike" baseline="0" dirty="0">
                <a:solidFill>
                  <a:srgbClr val="000000"/>
                </a:solidFill>
                <a:latin typeface="Calibri" panose="020F0502020204030204" pitchFamily="34" charset="0"/>
              </a:rPr>
              <a:t>)</a:t>
            </a:r>
          </a:p>
          <a:p>
            <a:r>
              <a:rPr lang="es-ES" dirty="0" err="1">
                <a:solidFill>
                  <a:srgbClr val="000000"/>
                </a:solidFill>
                <a:latin typeface="Calibri" panose="020F0502020204030204" pitchFamily="34" charset="0"/>
              </a:rPr>
              <a:t>Lineas_Pedido</a:t>
            </a:r>
            <a:r>
              <a:rPr lang="es-ES" dirty="0">
                <a:solidFill>
                  <a:srgbClr val="000000"/>
                </a:solidFill>
                <a:latin typeface="Calibri" panose="020F0502020204030204" pitchFamily="34" charset="0"/>
              </a:rPr>
              <a:t>(</a:t>
            </a:r>
            <a:r>
              <a:rPr lang="es-ES" u="sng" dirty="0" err="1">
                <a:solidFill>
                  <a:srgbClr val="000000"/>
                </a:solidFill>
                <a:latin typeface="Calibri" panose="020F0502020204030204" pitchFamily="34" charset="0"/>
              </a:rPr>
              <a:t>codPedido</a:t>
            </a:r>
            <a:r>
              <a:rPr lang="es-ES" dirty="0">
                <a:solidFill>
                  <a:srgbClr val="000000"/>
                </a:solidFill>
                <a:latin typeface="Calibri" panose="020F0502020204030204" pitchFamily="34" charset="0"/>
              </a:rPr>
              <a:t> , </a:t>
            </a:r>
            <a:r>
              <a:rPr lang="es-ES" sz="1800" u="sng" dirty="0" err="1">
                <a:solidFill>
                  <a:srgbClr val="000000"/>
                </a:solidFill>
                <a:latin typeface="Calibri" panose="020F0502020204030204" pitchFamily="34" charset="0"/>
              </a:rPr>
              <a:t>codProducto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descProducto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codProveedor</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telfProveedor</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cantidadPedida</a:t>
            </a:r>
            <a:r>
              <a:rPr lang="es-ES" sz="1800" dirty="0">
                <a:solidFill>
                  <a:srgbClr val="000000"/>
                </a:solidFill>
                <a:latin typeface="Calibri" panose="020F0502020204030204" pitchFamily="34" charset="0"/>
              </a:rPr>
              <a:t>)</a:t>
            </a:r>
          </a:p>
          <a:p>
            <a:endParaRPr lang="es-ES" dirty="0"/>
          </a:p>
        </p:txBody>
      </p:sp>
      <p:graphicFrame>
        <p:nvGraphicFramePr>
          <p:cNvPr id="5" name="Tabla 5">
            <a:extLst>
              <a:ext uri="{FF2B5EF4-FFF2-40B4-BE49-F238E27FC236}">
                <a16:creationId xmlns:a16="http://schemas.microsoft.com/office/drawing/2014/main" id="{6103EF01-6C25-AA8A-7438-C5590C48B21A}"/>
              </a:ext>
            </a:extLst>
          </p:cNvPr>
          <p:cNvGraphicFramePr>
            <a:graphicFrameLocks noGrp="1"/>
          </p:cNvGraphicFramePr>
          <p:nvPr>
            <p:extLst>
              <p:ext uri="{D42A27DB-BD31-4B8C-83A1-F6EECF244321}">
                <p14:modId xmlns:p14="http://schemas.microsoft.com/office/powerpoint/2010/main" val="2039784179"/>
              </p:ext>
            </p:extLst>
          </p:nvPr>
        </p:nvGraphicFramePr>
        <p:xfrm>
          <a:off x="751840" y="4331546"/>
          <a:ext cx="3390392" cy="1109133"/>
        </p:xfrm>
        <a:graphic>
          <a:graphicData uri="http://schemas.openxmlformats.org/drawingml/2006/table">
            <a:tbl>
              <a:tblPr firstRow="1" bandRow="1">
                <a:tableStyleId>{5C22544A-7EE6-4342-B048-85BDC9FD1C3A}</a:tableStyleId>
              </a:tblPr>
              <a:tblGrid>
                <a:gridCol w="1695196">
                  <a:extLst>
                    <a:ext uri="{9D8B030D-6E8A-4147-A177-3AD203B41FA5}">
                      <a16:colId xmlns:a16="http://schemas.microsoft.com/office/drawing/2014/main" val="1137179968"/>
                    </a:ext>
                  </a:extLst>
                </a:gridCol>
                <a:gridCol w="1695196">
                  <a:extLst>
                    <a:ext uri="{9D8B030D-6E8A-4147-A177-3AD203B41FA5}">
                      <a16:colId xmlns:a16="http://schemas.microsoft.com/office/drawing/2014/main" val="2999473289"/>
                    </a:ext>
                  </a:extLst>
                </a:gridCol>
              </a:tblGrid>
              <a:tr h="369711">
                <a:tc>
                  <a:txBody>
                    <a:bodyPr/>
                    <a:lstStyle/>
                    <a:p>
                      <a:pPr algn="ctr"/>
                      <a:r>
                        <a:rPr lang="es-ES" sz="1400" dirty="0" err="1"/>
                        <a:t>codPedido</a:t>
                      </a:r>
                      <a:endParaRPr lang="es-ES" sz="1400" dirty="0"/>
                    </a:p>
                  </a:txBody>
                  <a:tcPr/>
                </a:tc>
                <a:tc>
                  <a:txBody>
                    <a:bodyPr/>
                    <a:lstStyle/>
                    <a:p>
                      <a:pPr algn="ctr"/>
                      <a:r>
                        <a:rPr lang="es-ES" sz="1400" dirty="0" err="1"/>
                        <a:t>fechaPedido</a:t>
                      </a:r>
                      <a:endParaRPr lang="es-ES" sz="1400" dirty="0"/>
                    </a:p>
                  </a:txBody>
                  <a:tcPr/>
                </a:tc>
                <a:extLst>
                  <a:ext uri="{0D108BD9-81ED-4DB2-BD59-A6C34878D82A}">
                    <a16:rowId xmlns:a16="http://schemas.microsoft.com/office/drawing/2014/main" val="996223693"/>
                  </a:ext>
                </a:extLst>
              </a:tr>
              <a:tr h="369711">
                <a:tc>
                  <a:txBody>
                    <a:bodyPr/>
                    <a:lstStyle/>
                    <a:p>
                      <a:pPr algn="ctr"/>
                      <a:r>
                        <a:rPr lang="es-ES" sz="1400" dirty="0"/>
                        <a:t>001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12/02/21</a:t>
                      </a:r>
                    </a:p>
                  </a:txBody>
                  <a:tcPr/>
                </a:tc>
                <a:extLst>
                  <a:ext uri="{0D108BD9-81ED-4DB2-BD59-A6C34878D82A}">
                    <a16:rowId xmlns:a16="http://schemas.microsoft.com/office/drawing/2014/main" val="2005254072"/>
                  </a:ext>
                </a:extLst>
              </a:tr>
              <a:tr h="369711">
                <a:tc>
                  <a:txBody>
                    <a:bodyPr/>
                    <a:lstStyle/>
                    <a:p>
                      <a:pPr algn="ctr"/>
                      <a:r>
                        <a:rPr lang="es-ES" sz="1400" dirty="0"/>
                        <a:t>002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11/3/21</a:t>
                      </a:r>
                    </a:p>
                  </a:txBody>
                  <a:tcPr/>
                </a:tc>
                <a:extLst>
                  <a:ext uri="{0D108BD9-81ED-4DB2-BD59-A6C34878D82A}">
                    <a16:rowId xmlns:a16="http://schemas.microsoft.com/office/drawing/2014/main" val="2645790211"/>
                  </a:ext>
                </a:extLst>
              </a:tr>
            </a:tbl>
          </a:graphicData>
        </a:graphic>
      </p:graphicFrame>
      <p:graphicFrame>
        <p:nvGraphicFramePr>
          <p:cNvPr id="6" name="Tabla 6">
            <a:extLst>
              <a:ext uri="{FF2B5EF4-FFF2-40B4-BE49-F238E27FC236}">
                <a16:creationId xmlns:a16="http://schemas.microsoft.com/office/drawing/2014/main" id="{9BFCBD51-4BBD-432C-3433-63DF323D7B1A}"/>
              </a:ext>
            </a:extLst>
          </p:cNvPr>
          <p:cNvGraphicFramePr>
            <a:graphicFrameLocks noGrp="1"/>
          </p:cNvGraphicFramePr>
          <p:nvPr>
            <p:extLst>
              <p:ext uri="{D42A27DB-BD31-4B8C-83A1-F6EECF244321}">
                <p14:modId xmlns:p14="http://schemas.microsoft.com/office/powerpoint/2010/main" val="3426147358"/>
              </p:ext>
            </p:extLst>
          </p:nvPr>
        </p:nvGraphicFramePr>
        <p:xfrm>
          <a:off x="4638040" y="4331546"/>
          <a:ext cx="7258685" cy="1524000"/>
        </p:xfrm>
        <a:graphic>
          <a:graphicData uri="http://schemas.openxmlformats.org/drawingml/2006/table">
            <a:tbl>
              <a:tblPr firstRow="1" bandRow="1">
                <a:tableStyleId>{5C22544A-7EE6-4342-B048-85BDC9FD1C3A}</a:tableStyleId>
              </a:tblPr>
              <a:tblGrid>
                <a:gridCol w="1063209">
                  <a:extLst>
                    <a:ext uri="{9D8B030D-6E8A-4147-A177-3AD203B41FA5}">
                      <a16:colId xmlns:a16="http://schemas.microsoft.com/office/drawing/2014/main" val="2892788824"/>
                    </a:ext>
                  </a:extLst>
                </a:gridCol>
                <a:gridCol w="1149387">
                  <a:extLst>
                    <a:ext uri="{9D8B030D-6E8A-4147-A177-3AD203B41FA5}">
                      <a16:colId xmlns:a16="http://schemas.microsoft.com/office/drawing/2014/main" val="946409805"/>
                    </a:ext>
                  </a:extLst>
                </a:gridCol>
                <a:gridCol w="1233489">
                  <a:extLst>
                    <a:ext uri="{9D8B030D-6E8A-4147-A177-3AD203B41FA5}">
                      <a16:colId xmlns:a16="http://schemas.microsoft.com/office/drawing/2014/main" val="3780292349"/>
                    </a:ext>
                  </a:extLst>
                </a:gridCol>
                <a:gridCol w="1252178">
                  <a:extLst>
                    <a:ext uri="{9D8B030D-6E8A-4147-A177-3AD203B41FA5}">
                      <a16:colId xmlns:a16="http://schemas.microsoft.com/office/drawing/2014/main" val="528858207"/>
                    </a:ext>
                  </a:extLst>
                </a:gridCol>
                <a:gridCol w="1234161">
                  <a:extLst>
                    <a:ext uri="{9D8B030D-6E8A-4147-A177-3AD203B41FA5}">
                      <a16:colId xmlns:a16="http://schemas.microsoft.com/office/drawing/2014/main" val="3271581717"/>
                    </a:ext>
                  </a:extLst>
                </a:gridCol>
                <a:gridCol w="1326261">
                  <a:extLst>
                    <a:ext uri="{9D8B030D-6E8A-4147-A177-3AD203B41FA5}">
                      <a16:colId xmlns:a16="http://schemas.microsoft.com/office/drawing/2014/main" val="1033531365"/>
                    </a:ext>
                  </a:extLst>
                </a:gridCol>
              </a:tblGrid>
              <a:tr h="273033">
                <a:tc>
                  <a:txBody>
                    <a:bodyPr/>
                    <a:lstStyle/>
                    <a:p>
                      <a:r>
                        <a:rPr lang="es-ES" sz="1400" dirty="0" err="1"/>
                        <a:t>codPedido</a:t>
                      </a:r>
                      <a:endParaRPr lang="es-ES" sz="1400" dirty="0"/>
                    </a:p>
                  </a:txBody>
                  <a:tcPr/>
                </a:tc>
                <a:tc>
                  <a:txBody>
                    <a:bodyPr/>
                    <a:lstStyle/>
                    <a:p>
                      <a:r>
                        <a:rPr lang="es-ES" sz="1400" dirty="0" err="1"/>
                        <a:t>codProducto</a:t>
                      </a:r>
                      <a:endParaRPr lang="es-ES" sz="1400" dirty="0"/>
                    </a:p>
                  </a:txBody>
                  <a:tcPr/>
                </a:tc>
                <a:tc>
                  <a:txBody>
                    <a:bodyPr/>
                    <a:lstStyle/>
                    <a:p>
                      <a:r>
                        <a:rPr lang="es-ES" sz="1400" dirty="0" err="1"/>
                        <a:t>descProducto</a:t>
                      </a:r>
                      <a:endParaRPr lang="es-ES" sz="1400" dirty="0"/>
                    </a:p>
                  </a:txBody>
                  <a:tcPr/>
                </a:tc>
                <a:tc>
                  <a:txBody>
                    <a:bodyPr/>
                    <a:lstStyle/>
                    <a:p>
                      <a:r>
                        <a:rPr lang="es-ES" sz="1400" dirty="0" err="1"/>
                        <a:t>codProveedor</a:t>
                      </a:r>
                      <a:endParaRPr lang="es-ES" sz="1400" dirty="0"/>
                    </a:p>
                  </a:txBody>
                  <a:tcPr/>
                </a:tc>
                <a:tc>
                  <a:txBody>
                    <a:bodyPr/>
                    <a:lstStyle/>
                    <a:p>
                      <a:r>
                        <a:rPr lang="es-ES" sz="1400" dirty="0" err="1"/>
                        <a:t>telfProveedor</a:t>
                      </a:r>
                      <a:endParaRPr lang="es-ES" sz="1400" dirty="0"/>
                    </a:p>
                  </a:txBody>
                  <a:tcPr/>
                </a:tc>
                <a:tc>
                  <a:txBody>
                    <a:bodyPr/>
                    <a:lstStyle/>
                    <a:p>
                      <a:r>
                        <a:rPr lang="es-ES" sz="1400" dirty="0" err="1"/>
                        <a:t>cantidadPedida</a:t>
                      </a:r>
                      <a:endParaRPr lang="es-ES" sz="1400" dirty="0"/>
                    </a:p>
                  </a:txBody>
                  <a:tcPr/>
                </a:tc>
                <a:extLst>
                  <a:ext uri="{0D108BD9-81ED-4DB2-BD59-A6C34878D82A}">
                    <a16:rowId xmlns:a16="http://schemas.microsoft.com/office/drawing/2014/main" val="2093092736"/>
                  </a:ext>
                </a:extLst>
              </a:tr>
              <a:tr h="273033">
                <a:tc>
                  <a:txBody>
                    <a:bodyPr/>
                    <a:lstStyle/>
                    <a:p>
                      <a:pPr algn="ctr"/>
                      <a:r>
                        <a:rPr lang="es-ES" sz="1400" dirty="0"/>
                        <a:t>001</a:t>
                      </a:r>
                    </a:p>
                  </a:txBody>
                  <a:tcPr/>
                </a:tc>
                <a:tc>
                  <a:txBody>
                    <a:bodyPr/>
                    <a:lstStyle/>
                    <a:p>
                      <a:pPr algn="ctr"/>
                      <a:r>
                        <a:rPr lang="es-ES" sz="1400" dirty="0"/>
                        <a:t>010</a:t>
                      </a:r>
                    </a:p>
                  </a:txBody>
                  <a:tcPr/>
                </a:tc>
                <a:tc>
                  <a:txBody>
                    <a:bodyPr/>
                    <a:lstStyle/>
                    <a:p>
                      <a:pPr algn="ctr"/>
                      <a:r>
                        <a:rPr lang="es-ES" sz="1400" dirty="0"/>
                        <a:t>Galletas</a:t>
                      </a:r>
                    </a:p>
                  </a:txBody>
                  <a:tcPr/>
                </a:tc>
                <a:tc>
                  <a:txBody>
                    <a:bodyPr/>
                    <a:lstStyle/>
                    <a:p>
                      <a:pPr algn="ctr"/>
                      <a:r>
                        <a:rPr lang="es-ES" sz="1400" dirty="0"/>
                        <a:t>10</a:t>
                      </a:r>
                    </a:p>
                  </a:txBody>
                  <a:tcPr/>
                </a:tc>
                <a:tc>
                  <a:txBody>
                    <a:bodyPr/>
                    <a:lstStyle/>
                    <a:p>
                      <a:pPr algn="ctr"/>
                      <a:r>
                        <a:rPr lang="es-ES" sz="1400" dirty="0"/>
                        <a:t>111</a:t>
                      </a:r>
                    </a:p>
                  </a:txBody>
                  <a:tcPr/>
                </a:tc>
                <a:tc>
                  <a:txBody>
                    <a:bodyPr/>
                    <a:lstStyle/>
                    <a:p>
                      <a:pPr algn="ctr"/>
                      <a:r>
                        <a:rPr lang="es-ES" sz="1400" dirty="0"/>
                        <a:t>5</a:t>
                      </a:r>
                    </a:p>
                  </a:txBody>
                  <a:tcPr/>
                </a:tc>
                <a:extLst>
                  <a:ext uri="{0D108BD9-81ED-4DB2-BD59-A6C34878D82A}">
                    <a16:rowId xmlns:a16="http://schemas.microsoft.com/office/drawing/2014/main" val="4229511804"/>
                  </a:ext>
                </a:extLst>
              </a:tr>
              <a:tr h="273033">
                <a:tc>
                  <a:txBody>
                    <a:bodyPr/>
                    <a:lstStyle/>
                    <a:p>
                      <a:pPr algn="ctr"/>
                      <a:r>
                        <a:rPr lang="es-ES" sz="1400" dirty="0"/>
                        <a:t>001</a:t>
                      </a:r>
                    </a:p>
                  </a:txBody>
                  <a:tcPr/>
                </a:tc>
                <a:tc>
                  <a:txBody>
                    <a:bodyPr/>
                    <a:lstStyle/>
                    <a:p>
                      <a:pPr algn="ctr"/>
                      <a:r>
                        <a:rPr lang="es-ES" sz="1400" dirty="0"/>
                        <a:t>020</a:t>
                      </a:r>
                    </a:p>
                  </a:txBody>
                  <a:tcPr/>
                </a:tc>
                <a:tc>
                  <a:txBody>
                    <a:bodyPr/>
                    <a:lstStyle/>
                    <a:p>
                      <a:pPr algn="ctr"/>
                      <a:r>
                        <a:rPr lang="es-ES" sz="1400" dirty="0"/>
                        <a:t>Zumo</a:t>
                      </a:r>
                    </a:p>
                  </a:txBody>
                  <a:tcPr/>
                </a:tc>
                <a:tc>
                  <a:txBody>
                    <a:bodyPr/>
                    <a:lstStyle/>
                    <a:p>
                      <a:pPr algn="ctr"/>
                      <a:r>
                        <a:rPr lang="es-ES" sz="1400" dirty="0"/>
                        <a:t>20</a:t>
                      </a:r>
                    </a:p>
                  </a:txBody>
                  <a:tcPr/>
                </a:tc>
                <a:tc>
                  <a:txBody>
                    <a:bodyPr/>
                    <a:lstStyle/>
                    <a:p>
                      <a:pPr algn="ctr"/>
                      <a:r>
                        <a:rPr lang="es-ES" sz="1400" dirty="0"/>
                        <a:t>222</a:t>
                      </a:r>
                    </a:p>
                  </a:txBody>
                  <a:tcPr/>
                </a:tc>
                <a:tc>
                  <a:txBody>
                    <a:bodyPr/>
                    <a:lstStyle/>
                    <a:p>
                      <a:pPr algn="ctr"/>
                      <a:r>
                        <a:rPr lang="es-ES" sz="1400" dirty="0"/>
                        <a:t>2</a:t>
                      </a:r>
                    </a:p>
                  </a:txBody>
                  <a:tcPr/>
                </a:tc>
                <a:extLst>
                  <a:ext uri="{0D108BD9-81ED-4DB2-BD59-A6C34878D82A}">
                    <a16:rowId xmlns:a16="http://schemas.microsoft.com/office/drawing/2014/main" val="4113967575"/>
                  </a:ext>
                </a:extLst>
              </a:tr>
              <a:tr h="273033">
                <a:tc>
                  <a:txBody>
                    <a:bodyPr/>
                    <a:lstStyle/>
                    <a:p>
                      <a:pPr algn="ctr"/>
                      <a:r>
                        <a:rPr lang="es-ES" sz="1400" dirty="0"/>
                        <a:t>002</a:t>
                      </a:r>
                    </a:p>
                  </a:txBody>
                  <a:tcPr/>
                </a:tc>
                <a:tc>
                  <a:txBody>
                    <a:bodyPr/>
                    <a:lstStyle/>
                    <a:p>
                      <a:pPr algn="ctr"/>
                      <a:r>
                        <a:rPr lang="es-ES" sz="1400" dirty="0"/>
                        <a:t>030</a:t>
                      </a:r>
                    </a:p>
                  </a:txBody>
                  <a:tcPr/>
                </a:tc>
                <a:tc>
                  <a:txBody>
                    <a:bodyPr/>
                    <a:lstStyle/>
                    <a:p>
                      <a:pPr algn="ctr"/>
                      <a:r>
                        <a:rPr lang="es-ES" sz="1400" dirty="0"/>
                        <a:t>Detergente</a:t>
                      </a:r>
                    </a:p>
                  </a:txBody>
                  <a:tcPr/>
                </a:tc>
                <a:tc>
                  <a:txBody>
                    <a:bodyPr/>
                    <a:lstStyle/>
                    <a:p>
                      <a:pPr algn="ctr"/>
                      <a:r>
                        <a:rPr lang="es-ES" sz="1400" dirty="0"/>
                        <a:t>30</a:t>
                      </a:r>
                    </a:p>
                  </a:txBody>
                  <a:tcPr/>
                </a:tc>
                <a:tc>
                  <a:txBody>
                    <a:bodyPr/>
                    <a:lstStyle/>
                    <a:p>
                      <a:pPr algn="ctr"/>
                      <a:r>
                        <a:rPr lang="es-ES" sz="1400" dirty="0"/>
                        <a:t>333</a:t>
                      </a:r>
                    </a:p>
                  </a:txBody>
                  <a:tcPr/>
                </a:tc>
                <a:tc>
                  <a:txBody>
                    <a:bodyPr/>
                    <a:lstStyle/>
                    <a:p>
                      <a:pPr algn="ctr"/>
                      <a:r>
                        <a:rPr lang="es-ES" sz="1400" dirty="0"/>
                        <a:t>6</a:t>
                      </a:r>
                    </a:p>
                  </a:txBody>
                  <a:tcPr/>
                </a:tc>
                <a:extLst>
                  <a:ext uri="{0D108BD9-81ED-4DB2-BD59-A6C34878D82A}">
                    <a16:rowId xmlns:a16="http://schemas.microsoft.com/office/drawing/2014/main" val="1830815900"/>
                  </a:ext>
                </a:extLst>
              </a:tr>
              <a:tr h="273033">
                <a:tc>
                  <a:txBody>
                    <a:bodyPr/>
                    <a:lstStyle/>
                    <a:p>
                      <a:pPr algn="ctr"/>
                      <a:r>
                        <a:rPr lang="es-ES" sz="1400" dirty="0"/>
                        <a:t>002</a:t>
                      </a:r>
                    </a:p>
                  </a:txBody>
                  <a:tcPr/>
                </a:tc>
                <a:tc>
                  <a:txBody>
                    <a:bodyPr/>
                    <a:lstStyle/>
                    <a:p>
                      <a:pPr algn="ctr"/>
                      <a:r>
                        <a:rPr lang="es-ES" sz="1400" dirty="0"/>
                        <a:t>040</a:t>
                      </a:r>
                    </a:p>
                  </a:txBody>
                  <a:tcPr/>
                </a:tc>
                <a:tc>
                  <a:txBody>
                    <a:bodyPr/>
                    <a:lstStyle/>
                    <a:p>
                      <a:pPr algn="ctr"/>
                      <a:r>
                        <a:rPr lang="es-ES" sz="1400" dirty="0"/>
                        <a:t>Vino</a:t>
                      </a:r>
                    </a:p>
                  </a:txBody>
                  <a:tcPr/>
                </a:tc>
                <a:tc>
                  <a:txBody>
                    <a:bodyPr/>
                    <a:lstStyle/>
                    <a:p>
                      <a:pPr algn="ctr"/>
                      <a:r>
                        <a:rPr lang="es-ES" sz="1400" dirty="0"/>
                        <a:t>40</a:t>
                      </a:r>
                    </a:p>
                  </a:txBody>
                  <a:tcPr/>
                </a:tc>
                <a:tc>
                  <a:txBody>
                    <a:bodyPr/>
                    <a:lstStyle/>
                    <a:p>
                      <a:pPr algn="ctr"/>
                      <a:r>
                        <a:rPr lang="es-ES" sz="1400" dirty="0"/>
                        <a:t>444</a:t>
                      </a:r>
                    </a:p>
                  </a:txBody>
                  <a:tcPr/>
                </a:tc>
                <a:tc>
                  <a:txBody>
                    <a:bodyPr/>
                    <a:lstStyle/>
                    <a:p>
                      <a:pPr algn="ctr"/>
                      <a:r>
                        <a:rPr lang="es-ES" sz="1400" dirty="0"/>
                        <a:t>2</a:t>
                      </a:r>
                    </a:p>
                  </a:txBody>
                  <a:tcPr/>
                </a:tc>
                <a:extLst>
                  <a:ext uri="{0D108BD9-81ED-4DB2-BD59-A6C34878D82A}">
                    <a16:rowId xmlns:a16="http://schemas.microsoft.com/office/drawing/2014/main" val="498245384"/>
                  </a:ext>
                </a:extLst>
              </a:tr>
            </a:tbl>
          </a:graphicData>
        </a:graphic>
      </p:graphicFrame>
      <p:sp>
        <p:nvSpPr>
          <p:cNvPr id="7" name="CuadroTexto 6">
            <a:extLst>
              <a:ext uri="{FF2B5EF4-FFF2-40B4-BE49-F238E27FC236}">
                <a16:creationId xmlns:a16="http://schemas.microsoft.com/office/drawing/2014/main" id="{649D21DC-6361-D0E6-A8D5-3EE46D3E989B}"/>
              </a:ext>
            </a:extLst>
          </p:cNvPr>
          <p:cNvSpPr txBox="1"/>
          <p:nvPr/>
        </p:nvSpPr>
        <p:spPr>
          <a:xfrm>
            <a:off x="1261872" y="3924133"/>
            <a:ext cx="2121408" cy="369332"/>
          </a:xfrm>
          <a:prstGeom prst="rect">
            <a:avLst/>
          </a:prstGeom>
          <a:noFill/>
        </p:spPr>
        <p:txBody>
          <a:bodyPr wrap="square" rtlCol="0">
            <a:spAutoFit/>
          </a:bodyPr>
          <a:lstStyle/>
          <a:p>
            <a:r>
              <a:rPr lang="es-ES" dirty="0"/>
              <a:t>Pedido</a:t>
            </a:r>
          </a:p>
        </p:txBody>
      </p:sp>
      <p:sp>
        <p:nvSpPr>
          <p:cNvPr id="8" name="CuadroTexto 7">
            <a:extLst>
              <a:ext uri="{FF2B5EF4-FFF2-40B4-BE49-F238E27FC236}">
                <a16:creationId xmlns:a16="http://schemas.microsoft.com/office/drawing/2014/main" id="{0A0F6F12-48B4-58A6-41A2-90E18284C2AF}"/>
              </a:ext>
            </a:extLst>
          </p:cNvPr>
          <p:cNvSpPr txBox="1"/>
          <p:nvPr/>
        </p:nvSpPr>
        <p:spPr>
          <a:xfrm>
            <a:off x="5971032" y="3924133"/>
            <a:ext cx="2523744" cy="369332"/>
          </a:xfrm>
          <a:prstGeom prst="rect">
            <a:avLst/>
          </a:prstGeom>
          <a:noFill/>
        </p:spPr>
        <p:txBody>
          <a:bodyPr wrap="square" rtlCol="0">
            <a:spAutoFit/>
          </a:bodyPr>
          <a:lstStyle/>
          <a:p>
            <a:r>
              <a:rPr lang="es-ES" dirty="0" err="1"/>
              <a:t>Lineas_Pedido</a:t>
            </a:r>
            <a:endParaRPr lang="es-ES" dirty="0"/>
          </a:p>
        </p:txBody>
      </p:sp>
    </p:spTree>
    <p:extLst>
      <p:ext uri="{BB962C8B-B14F-4D97-AF65-F5344CB8AC3E}">
        <p14:creationId xmlns:p14="http://schemas.microsoft.com/office/powerpoint/2010/main" val="3591329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304395E-8739-00C2-FCE2-F416411F85E7}"/>
              </a:ext>
            </a:extLst>
          </p:cNvPr>
          <p:cNvSpPr>
            <a:spLocks noGrp="1"/>
          </p:cNvSpPr>
          <p:nvPr>
            <p:ph type="body" sz="quarter" idx="10"/>
          </p:nvPr>
        </p:nvSpPr>
        <p:spPr/>
        <p:txBody>
          <a:bodyPr>
            <a:normAutofit fontScale="92500" lnSpcReduction="10000"/>
          </a:bodyPr>
          <a:lstStyle/>
          <a:p>
            <a:r>
              <a:rPr lang="es-ES" dirty="0"/>
              <a:t>2FN (Segunda Forma Normal)</a:t>
            </a:r>
          </a:p>
        </p:txBody>
      </p:sp>
      <p:sp>
        <p:nvSpPr>
          <p:cNvPr id="3" name="CuadroTexto 2">
            <a:extLst>
              <a:ext uri="{FF2B5EF4-FFF2-40B4-BE49-F238E27FC236}">
                <a16:creationId xmlns:a16="http://schemas.microsoft.com/office/drawing/2014/main" id="{A1642FDE-5CB5-5BD5-1DA1-D2DAEF243EF5}"/>
              </a:ext>
            </a:extLst>
          </p:cNvPr>
          <p:cNvSpPr txBox="1"/>
          <p:nvPr/>
        </p:nvSpPr>
        <p:spPr>
          <a:xfrm>
            <a:off x="1271016" y="1965960"/>
            <a:ext cx="7104888" cy="5203412"/>
          </a:xfrm>
          <a:prstGeom prst="rect">
            <a:avLst/>
          </a:prstGeom>
          <a:noFill/>
        </p:spPr>
        <p:txBody>
          <a:bodyPr wrap="square" rtlCol="0">
            <a:spAutoFit/>
          </a:bodyPr>
          <a:lstStyle/>
          <a:p>
            <a:pPr>
              <a:lnSpc>
                <a:spcPct val="107000"/>
              </a:lnSpc>
              <a:spcAft>
                <a:spcPts val="800"/>
              </a:spcAft>
            </a:pPr>
            <a:r>
              <a:rPr lang="es-ES" sz="1600" dirty="0">
                <a:effectLst/>
                <a:latin typeface="Calibri" panose="020F0502020204030204" pitchFamily="34" charset="0"/>
                <a:ea typeface="Calibri" panose="020F0502020204030204" pitchFamily="34" charset="0"/>
                <a:cs typeface="Times New Roman" panose="02020603050405020304" pitchFamily="18" charset="0"/>
              </a:rPr>
              <a:t>Una tabla o relación, está en </a:t>
            </a:r>
            <a:r>
              <a:rPr lang="es-ES" sz="1600" b="1" dirty="0">
                <a:effectLst/>
                <a:latin typeface="Calibri" panose="020F0502020204030204" pitchFamily="34" charset="0"/>
                <a:ea typeface="Calibri" panose="020F0502020204030204" pitchFamily="34" charset="0"/>
                <a:cs typeface="Times New Roman" panose="02020603050405020304" pitchFamily="18" charset="0"/>
              </a:rPr>
              <a:t>segunda forma normal </a:t>
            </a:r>
            <a:r>
              <a:rPr lang="es-ES" sz="1600" dirty="0">
                <a:effectLst/>
                <a:latin typeface="Calibri" panose="020F0502020204030204" pitchFamily="34" charset="0"/>
                <a:ea typeface="Calibri" panose="020F0502020204030204" pitchFamily="34" charset="0"/>
                <a:cs typeface="Times New Roman" panose="02020603050405020304" pitchFamily="18" charset="0"/>
              </a:rPr>
              <a:t>si está en primera forma normal y si todos los atributos no clave, dependen funcionalmente, completamente de la, o de las, claves candidatas. </a:t>
            </a:r>
            <a:endParaRPr lang="es-E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600" dirty="0">
                <a:effectLst/>
                <a:latin typeface="Calibri" panose="020F0502020204030204" pitchFamily="34" charset="0"/>
                <a:ea typeface="Calibri" panose="020F0502020204030204" pitchFamily="34" charset="0"/>
                <a:cs typeface="Times New Roman" panose="02020603050405020304" pitchFamily="18" charset="0"/>
              </a:rPr>
              <a:t>En el ejemplo anterior:</a:t>
            </a:r>
          </a:p>
          <a:p>
            <a:r>
              <a:rPr lang="es-ES" sz="1600" dirty="0"/>
              <a:t>Pedido(</a:t>
            </a:r>
            <a:r>
              <a:rPr lang="es-ES" sz="1600" b="0" i="0" u="sng" strike="noStrike" baseline="0" dirty="0" err="1">
                <a:solidFill>
                  <a:srgbClr val="000000"/>
                </a:solidFill>
                <a:latin typeface="Calibri" panose="020F0502020204030204" pitchFamily="34" charset="0"/>
              </a:rPr>
              <a:t>codPedido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fechaPedido</a:t>
            </a:r>
            <a:r>
              <a:rPr lang="es-ES" sz="1600" b="0" i="0" u="none" strike="noStrike" baseline="0" dirty="0">
                <a:solidFill>
                  <a:srgbClr val="000000"/>
                </a:solidFill>
                <a:latin typeface="Calibri" panose="020F0502020204030204" pitchFamily="34" charset="0"/>
              </a:rPr>
              <a:t>)</a:t>
            </a:r>
          </a:p>
          <a:p>
            <a:r>
              <a:rPr lang="es-ES" sz="1600" dirty="0" err="1">
                <a:solidFill>
                  <a:srgbClr val="000000"/>
                </a:solidFill>
                <a:latin typeface="Calibri" panose="020F0502020204030204" pitchFamily="34" charset="0"/>
              </a:rPr>
              <a:t>Lineas_Pedido</a:t>
            </a:r>
            <a:r>
              <a:rPr lang="es-ES" sz="1600" dirty="0">
                <a:solidFill>
                  <a:srgbClr val="000000"/>
                </a:solidFill>
                <a:latin typeface="Calibri" panose="020F0502020204030204" pitchFamily="34" charset="0"/>
              </a:rPr>
              <a:t>(</a:t>
            </a:r>
            <a:r>
              <a:rPr lang="es-ES" sz="1600" u="sng" dirty="0" err="1">
                <a:solidFill>
                  <a:srgbClr val="000000"/>
                </a:solidFill>
                <a:latin typeface="Calibri" panose="020F0502020204030204" pitchFamily="34" charset="0"/>
              </a:rPr>
              <a:t>codPedido</a:t>
            </a:r>
            <a:r>
              <a:rPr lang="es-ES" sz="1600" dirty="0">
                <a:solidFill>
                  <a:srgbClr val="000000"/>
                </a:solidFill>
                <a:latin typeface="Calibri" panose="020F0502020204030204" pitchFamily="34" charset="0"/>
              </a:rPr>
              <a:t> , </a:t>
            </a:r>
            <a:r>
              <a:rPr lang="es-ES" sz="1600" u="sng" dirty="0" err="1">
                <a:solidFill>
                  <a:srgbClr val="000000"/>
                </a:solidFill>
                <a:latin typeface="Calibri" panose="020F0502020204030204" pitchFamily="34" charset="0"/>
              </a:rPr>
              <a:t>codProducto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descProducto</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codProveedor</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telfProveedor</a:t>
            </a:r>
            <a:r>
              <a:rPr lang="es-ES" sz="1600" b="0" i="0" u="none" strike="noStrike" baseline="0" dirty="0">
                <a:solidFill>
                  <a:srgbClr val="000000"/>
                </a:solidFill>
                <a:latin typeface="Calibri" panose="020F0502020204030204" pitchFamily="34" charset="0"/>
              </a:rPr>
              <a:t>, </a:t>
            </a:r>
            <a:r>
              <a:rPr lang="es-ES" sz="1600" b="0" i="0" u="none" strike="noStrike" baseline="0" dirty="0" err="1">
                <a:solidFill>
                  <a:srgbClr val="000000"/>
                </a:solidFill>
                <a:latin typeface="Calibri" panose="020F0502020204030204" pitchFamily="34" charset="0"/>
              </a:rPr>
              <a:t>cantidadPedida</a:t>
            </a:r>
            <a:r>
              <a:rPr lang="es-ES" sz="1600" dirty="0">
                <a:solidFill>
                  <a:srgbClr val="000000"/>
                </a:solidFill>
                <a:latin typeface="Calibri" panose="020F0502020204030204" pitchFamily="34" charset="0"/>
              </a:rPr>
              <a:t>)</a:t>
            </a:r>
          </a:p>
          <a:p>
            <a:endParaRPr lang="es-ES" sz="1600" dirty="0">
              <a:solidFill>
                <a:srgbClr val="000000"/>
              </a:solidFill>
              <a:latin typeface="Calibri" panose="020F0502020204030204" pitchFamily="34" charset="0"/>
            </a:endParaRPr>
          </a:p>
          <a:p>
            <a:pPr>
              <a:lnSpc>
                <a:spcPct val="107000"/>
              </a:lnSpc>
              <a:spcAft>
                <a:spcPts val="800"/>
              </a:spcAft>
            </a:pPr>
            <a:r>
              <a:rPr lang="es-ES" sz="1600" dirty="0" err="1">
                <a:latin typeface="Calibri" panose="020F0502020204030204" pitchFamily="34" charset="0"/>
                <a:ea typeface="Calibri" panose="020F0502020204030204" pitchFamily="34" charset="0"/>
                <a:cs typeface="Times New Roman" panose="02020603050405020304" pitchFamily="18" charset="0"/>
              </a:rPr>
              <a:t>codProducto</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descProducto</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codProveedor</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telfProveedor</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(Si nos damos cuenta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descProducto</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codProveedor,telfProveedor</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dependen funcionalmente de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codProducto</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pero no de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codPedido</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p>
          <a:p>
            <a:pPr>
              <a:lnSpc>
                <a:spcPct val="107000"/>
              </a:lnSpc>
              <a:spcAft>
                <a:spcPts val="800"/>
              </a:spcAft>
            </a:pP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Por lo tanto </a:t>
            </a:r>
            <a:r>
              <a:rPr lang="es-ES" sz="1600" b="1"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descProducto</a:t>
            </a:r>
            <a:r>
              <a:rPr lang="es-ES" sz="1600" b="1"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s-ES" sz="1600" b="1"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codProveedor,telfProveedor</a:t>
            </a:r>
            <a:r>
              <a:rPr lang="es-ES" sz="1600" b="1"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que son </a:t>
            </a:r>
            <a:r>
              <a:rPr lang="es-ES" sz="1600" b="1"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atributos no clave </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no dependen funcionalmente de uno de los atributos de la clave ajena que es </a:t>
            </a:r>
            <a:r>
              <a:rPr lang="es-ES" sz="1600" dirty="0" err="1">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codPedido</a:t>
            </a:r>
            <a:r>
              <a:rPr lang="es-ES" sz="16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por lo que no tienen una dependencia funcional completa.</a:t>
            </a:r>
            <a:endParaRPr lang="es-ES" sz="1600" b="1"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793062C6-A869-E6C3-0589-F685A39DD37F}"/>
              </a:ext>
            </a:extLst>
          </p:cNvPr>
          <p:cNvPicPr>
            <a:picLocks noChangeAspect="1"/>
          </p:cNvPicPr>
          <p:nvPr/>
        </p:nvPicPr>
        <p:blipFill>
          <a:blip r:embed="rId2"/>
          <a:stretch>
            <a:fillRect/>
          </a:stretch>
        </p:blipFill>
        <p:spPr>
          <a:xfrm>
            <a:off x="8375904" y="2419350"/>
            <a:ext cx="3632965" cy="2124658"/>
          </a:xfrm>
          <a:prstGeom prst="rect">
            <a:avLst/>
          </a:prstGeom>
        </p:spPr>
      </p:pic>
    </p:spTree>
    <p:extLst>
      <p:ext uri="{BB962C8B-B14F-4D97-AF65-F5344CB8AC3E}">
        <p14:creationId xmlns:p14="http://schemas.microsoft.com/office/powerpoint/2010/main" val="3688519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54EE360-B080-97A3-0827-FF3194567D8D}"/>
              </a:ext>
            </a:extLst>
          </p:cNvPr>
          <p:cNvSpPr>
            <a:spLocks noGrp="1"/>
          </p:cNvSpPr>
          <p:nvPr>
            <p:ph type="body" sz="quarter" idx="10"/>
          </p:nvPr>
        </p:nvSpPr>
        <p:spPr/>
        <p:txBody>
          <a:bodyPr>
            <a:normAutofit fontScale="92500" lnSpcReduction="10000"/>
          </a:bodyPr>
          <a:lstStyle/>
          <a:p>
            <a:r>
              <a:rPr lang="es-ES" dirty="0"/>
              <a:t>Solución</a:t>
            </a:r>
          </a:p>
        </p:txBody>
      </p:sp>
      <p:sp>
        <p:nvSpPr>
          <p:cNvPr id="3" name="CuadroTexto 2">
            <a:extLst>
              <a:ext uri="{FF2B5EF4-FFF2-40B4-BE49-F238E27FC236}">
                <a16:creationId xmlns:a16="http://schemas.microsoft.com/office/drawing/2014/main" id="{C0F5775B-7DFC-4482-DCDB-EB795B949AA5}"/>
              </a:ext>
            </a:extLst>
          </p:cNvPr>
          <p:cNvSpPr txBox="1"/>
          <p:nvPr/>
        </p:nvSpPr>
        <p:spPr>
          <a:xfrm>
            <a:off x="1271016" y="1920008"/>
            <a:ext cx="9372600" cy="2862322"/>
          </a:xfrm>
          <a:prstGeom prst="rect">
            <a:avLst/>
          </a:prstGeom>
          <a:noFill/>
        </p:spPr>
        <p:txBody>
          <a:bodyPr wrap="square" rtlCol="0">
            <a:spAutoFit/>
          </a:bodyPr>
          <a:lstStyle/>
          <a:p>
            <a:r>
              <a:rPr lang="es-ES" dirty="0"/>
              <a:t>Para que </a:t>
            </a:r>
            <a:r>
              <a:rPr lang="es-ES" b="1" dirty="0"/>
              <a:t>la tabla estuviera en 2FN </a:t>
            </a:r>
            <a:r>
              <a:rPr lang="es-ES" dirty="0"/>
              <a:t>debemos sacar aquellos atributos que no tienen una dependencia funcional completa de las claves candidatas a una nueva tabla. La clave principal de la nueva relación estará formada por la parte de la antigua de la que dependen totalmente.</a:t>
            </a:r>
          </a:p>
          <a:p>
            <a:endParaRPr lang="es-ES" dirty="0"/>
          </a:p>
          <a:p>
            <a:r>
              <a:rPr lang="es-ES" sz="1800" dirty="0"/>
              <a:t>Pedido(</a:t>
            </a:r>
            <a:r>
              <a:rPr lang="es-ES" sz="1800" b="0" i="0" u="sng" strike="noStrike" baseline="0" dirty="0" err="1">
                <a:solidFill>
                  <a:srgbClr val="000000"/>
                </a:solidFill>
                <a:latin typeface="Calibri" panose="020F0502020204030204" pitchFamily="34" charset="0"/>
              </a:rPr>
              <a:t>codPedido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fechaPedido</a:t>
            </a:r>
            <a:r>
              <a:rPr lang="es-ES" sz="1800" b="0" i="0" u="none" strike="noStrike" baseline="0" dirty="0">
                <a:solidFill>
                  <a:srgbClr val="000000"/>
                </a:solidFill>
                <a:latin typeface="Calibri" panose="020F0502020204030204" pitchFamily="34" charset="0"/>
              </a:rPr>
              <a:t>)</a:t>
            </a:r>
          </a:p>
          <a:p>
            <a:r>
              <a:rPr lang="es-ES" sz="1800" dirty="0" err="1">
                <a:solidFill>
                  <a:srgbClr val="000000"/>
                </a:solidFill>
                <a:latin typeface="Calibri" panose="020F0502020204030204" pitchFamily="34" charset="0"/>
              </a:rPr>
              <a:t>Lineas_Pedido</a:t>
            </a:r>
            <a:r>
              <a:rPr lang="es-ES" sz="1800" dirty="0">
                <a:solidFill>
                  <a:srgbClr val="000000"/>
                </a:solidFill>
                <a:latin typeface="Calibri" panose="020F0502020204030204" pitchFamily="34" charset="0"/>
              </a:rPr>
              <a:t>(</a:t>
            </a:r>
            <a:r>
              <a:rPr lang="es-ES" sz="1800" u="sng" dirty="0" err="1">
                <a:solidFill>
                  <a:srgbClr val="000000"/>
                </a:solidFill>
                <a:latin typeface="Calibri" panose="020F0502020204030204" pitchFamily="34" charset="0"/>
              </a:rPr>
              <a:t>codPedido</a:t>
            </a:r>
            <a:r>
              <a:rPr lang="es-ES" sz="1800" dirty="0">
                <a:solidFill>
                  <a:srgbClr val="000000"/>
                </a:solidFill>
                <a:latin typeface="Calibri" panose="020F0502020204030204" pitchFamily="34" charset="0"/>
              </a:rPr>
              <a:t> , </a:t>
            </a:r>
            <a:r>
              <a:rPr lang="es-ES" sz="1800" u="sng" dirty="0" err="1">
                <a:solidFill>
                  <a:srgbClr val="000000"/>
                </a:solidFill>
                <a:latin typeface="Calibri" panose="020F0502020204030204" pitchFamily="34" charset="0"/>
              </a:rPr>
              <a:t>codProducto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cantidadPedida</a:t>
            </a:r>
            <a:r>
              <a:rPr lang="es-ES" sz="1800" dirty="0">
                <a:solidFill>
                  <a:srgbClr val="000000"/>
                </a:solidFill>
                <a:latin typeface="Calibri" panose="020F0502020204030204" pitchFamily="34" charset="0"/>
              </a:rPr>
              <a:t>)</a:t>
            </a:r>
          </a:p>
          <a:p>
            <a:r>
              <a:rPr lang="es-ES" dirty="0">
                <a:solidFill>
                  <a:srgbClr val="000000"/>
                </a:solidFill>
                <a:latin typeface="Calibri" panose="020F0502020204030204" pitchFamily="34" charset="0"/>
              </a:rPr>
              <a:t>Producto(</a:t>
            </a:r>
            <a:r>
              <a:rPr lang="es-ES" u="sng" dirty="0" err="1">
                <a:solidFill>
                  <a:srgbClr val="000000"/>
                </a:solidFill>
                <a:latin typeface="Calibri" panose="020F0502020204030204" pitchFamily="34" charset="0"/>
              </a:rPr>
              <a:t>codProducto</a:t>
            </a:r>
            <a:r>
              <a:rPr lang="es-ES"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descProducto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codProveedor</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telfProveedor</a:t>
            </a:r>
            <a:r>
              <a:rPr lang="es-ES" dirty="0">
                <a:solidFill>
                  <a:srgbClr val="000000"/>
                </a:solidFill>
                <a:latin typeface="Calibri" panose="020F0502020204030204" pitchFamily="34" charset="0"/>
              </a:rPr>
              <a:t>)</a:t>
            </a:r>
            <a:endParaRPr lang="es-ES" sz="1800" dirty="0">
              <a:solidFill>
                <a:srgbClr val="000000"/>
              </a:solidFill>
              <a:latin typeface="Calibri" panose="020F0502020204030204" pitchFamily="34" charset="0"/>
            </a:endParaRPr>
          </a:p>
          <a:p>
            <a:endParaRPr lang="es-ES" sz="1800" dirty="0">
              <a:solidFill>
                <a:srgbClr val="000000"/>
              </a:solidFill>
              <a:latin typeface="Calibri" panose="020F0502020204030204" pitchFamily="34" charset="0"/>
            </a:endParaRPr>
          </a:p>
          <a:p>
            <a:endParaRPr lang="es-ES" dirty="0"/>
          </a:p>
          <a:p>
            <a:endParaRPr lang="es-ES" dirty="0"/>
          </a:p>
        </p:txBody>
      </p:sp>
      <p:graphicFrame>
        <p:nvGraphicFramePr>
          <p:cNvPr id="8" name="Tabla 5">
            <a:extLst>
              <a:ext uri="{FF2B5EF4-FFF2-40B4-BE49-F238E27FC236}">
                <a16:creationId xmlns:a16="http://schemas.microsoft.com/office/drawing/2014/main" id="{E206674F-D62D-BA6F-716E-7FD37CC05FF8}"/>
              </a:ext>
            </a:extLst>
          </p:cNvPr>
          <p:cNvGraphicFramePr>
            <a:graphicFrameLocks noGrp="1"/>
          </p:cNvGraphicFramePr>
          <p:nvPr>
            <p:extLst>
              <p:ext uri="{D42A27DB-BD31-4B8C-83A1-F6EECF244321}">
                <p14:modId xmlns:p14="http://schemas.microsoft.com/office/powerpoint/2010/main" val="2631396572"/>
              </p:ext>
            </p:extLst>
          </p:nvPr>
        </p:nvGraphicFramePr>
        <p:xfrm>
          <a:off x="324402" y="4331546"/>
          <a:ext cx="2857338" cy="914400"/>
        </p:xfrm>
        <a:graphic>
          <a:graphicData uri="http://schemas.openxmlformats.org/drawingml/2006/table">
            <a:tbl>
              <a:tblPr firstRow="1" bandRow="1">
                <a:tableStyleId>{5C22544A-7EE6-4342-B048-85BDC9FD1C3A}</a:tableStyleId>
              </a:tblPr>
              <a:tblGrid>
                <a:gridCol w="1428669">
                  <a:extLst>
                    <a:ext uri="{9D8B030D-6E8A-4147-A177-3AD203B41FA5}">
                      <a16:colId xmlns:a16="http://schemas.microsoft.com/office/drawing/2014/main" val="1137179968"/>
                    </a:ext>
                  </a:extLst>
                </a:gridCol>
                <a:gridCol w="1428669">
                  <a:extLst>
                    <a:ext uri="{9D8B030D-6E8A-4147-A177-3AD203B41FA5}">
                      <a16:colId xmlns:a16="http://schemas.microsoft.com/office/drawing/2014/main" val="2999473289"/>
                    </a:ext>
                  </a:extLst>
                </a:gridCol>
              </a:tblGrid>
              <a:tr h="297866">
                <a:tc>
                  <a:txBody>
                    <a:bodyPr/>
                    <a:lstStyle/>
                    <a:p>
                      <a:pPr algn="ctr"/>
                      <a:r>
                        <a:rPr lang="es-ES" sz="1400" dirty="0" err="1"/>
                        <a:t>codPedido</a:t>
                      </a:r>
                      <a:endParaRPr lang="es-ES" sz="1400" dirty="0"/>
                    </a:p>
                  </a:txBody>
                  <a:tcPr/>
                </a:tc>
                <a:tc>
                  <a:txBody>
                    <a:bodyPr/>
                    <a:lstStyle/>
                    <a:p>
                      <a:pPr algn="ctr"/>
                      <a:r>
                        <a:rPr lang="es-ES" sz="1400" dirty="0" err="1"/>
                        <a:t>fechaPedido</a:t>
                      </a:r>
                      <a:endParaRPr lang="es-ES" sz="1400" dirty="0"/>
                    </a:p>
                  </a:txBody>
                  <a:tcPr/>
                </a:tc>
                <a:extLst>
                  <a:ext uri="{0D108BD9-81ED-4DB2-BD59-A6C34878D82A}">
                    <a16:rowId xmlns:a16="http://schemas.microsoft.com/office/drawing/2014/main" val="996223693"/>
                  </a:ext>
                </a:extLst>
              </a:tr>
              <a:tr h="297866">
                <a:tc>
                  <a:txBody>
                    <a:bodyPr/>
                    <a:lstStyle/>
                    <a:p>
                      <a:pPr algn="ctr"/>
                      <a:r>
                        <a:rPr lang="es-ES" sz="1400" dirty="0"/>
                        <a:t>001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12/02/21</a:t>
                      </a:r>
                    </a:p>
                  </a:txBody>
                  <a:tcPr/>
                </a:tc>
                <a:extLst>
                  <a:ext uri="{0D108BD9-81ED-4DB2-BD59-A6C34878D82A}">
                    <a16:rowId xmlns:a16="http://schemas.microsoft.com/office/drawing/2014/main" val="2005254072"/>
                  </a:ext>
                </a:extLst>
              </a:tr>
              <a:tr h="297866">
                <a:tc>
                  <a:txBody>
                    <a:bodyPr/>
                    <a:lstStyle/>
                    <a:p>
                      <a:pPr algn="ctr"/>
                      <a:r>
                        <a:rPr lang="es-ES" sz="1400" dirty="0"/>
                        <a:t>002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11/3/21</a:t>
                      </a:r>
                    </a:p>
                  </a:txBody>
                  <a:tcPr/>
                </a:tc>
                <a:extLst>
                  <a:ext uri="{0D108BD9-81ED-4DB2-BD59-A6C34878D82A}">
                    <a16:rowId xmlns:a16="http://schemas.microsoft.com/office/drawing/2014/main" val="2645790211"/>
                  </a:ext>
                </a:extLst>
              </a:tr>
            </a:tbl>
          </a:graphicData>
        </a:graphic>
      </p:graphicFrame>
      <p:graphicFrame>
        <p:nvGraphicFramePr>
          <p:cNvPr id="11" name="Tabla 6">
            <a:extLst>
              <a:ext uri="{FF2B5EF4-FFF2-40B4-BE49-F238E27FC236}">
                <a16:creationId xmlns:a16="http://schemas.microsoft.com/office/drawing/2014/main" id="{B8E1B162-09C6-F03A-93DB-F4F8F0DF9C3E}"/>
              </a:ext>
            </a:extLst>
          </p:cNvPr>
          <p:cNvGraphicFramePr>
            <a:graphicFrameLocks noGrp="1"/>
          </p:cNvGraphicFramePr>
          <p:nvPr>
            <p:extLst>
              <p:ext uri="{D42A27DB-BD31-4B8C-83A1-F6EECF244321}">
                <p14:modId xmlns:p14="http://schemas.microsoft.com/office/powerpoint/2010/main" val="3808258586"/>
              </p:ext>
            </p:extLst>
          </p:nvPr>
        </p:nvGraphicFramePr>
        <p:xfrm>
          <a:off x="3305531" y="4331546"/>
          <a:ext cx="3872203" cy="1524000"/>
        </p:xfrm>
        <a:graphic>
          <a:graphicData uri="http://schemas.openxmlformats.org/drawingml/2006/table">
            <a:tbl>
              <a:tblPr firstRow="1" bandRow="1">
                <a:tableStyleId>{5C22544A-7EE6-4342-B048-85BDC9FD1C3A}</a:tableStyleId>
              </a:tblPr>
              <a:tblGrid>
                <a:gridCol w="1218605">
                  <a:extLst>
                    <a:ext uri="{9D8B030D-6E8A-4147-A177-3AD203B41FA5}">
                      <a16:colId xmlns:a16="http://schemas.microsoft.com/office/drawing/2014/main" val="2892788824"/>
                    </a:ext>
                  </a:extLst>
                </a:gridCol>
                <a:gridCol w="1310818">
                  <a:extLst>
                    <a:ext uri="{9D8B030D-6E8A-4147-A177-3AD203B41FA5}">
                      <a16:colId xmlns:a16="http://schemas.microsoft.com/office/drawing/2014/main" val="946409805"/>
                    </a:ext>
                  </a:extLst>
                </a:gridCol>
                <a:gridCol w="1342780">
                  <a:extLst>
                    <a:ext uri="{9D8B030D-6E8A-4147-A177-3AD203B41FA5}">
                      <a16:colId xmlns:a16="http://schemas.microsoft.com/office/drawing/2014/main" val="3780292349"/>
                    </a:ext>
                  </a:extLst>
                </a:gridCol>
              </a:tblGrid>
              <a:tr h="245569">
                <a:tc>
                  <a:txBody>
                    <a:bodyPr/>
                    <a:lstStyle/>
                    <a:p>
                      <a:r>
                        <a:rPr lang="es-ES" sz="1400" dirty="0" err="1"/>
                        <a:t>codPedido</a:t>
                      </a:r>
                      <a:endParaRPr lang="es-ES" sz="1400" dirty="0"/>
                    </a:p>
                  </a:txBody>
                  <a:tcPr/>
                </a:tc>
                <a:tc>
                  <a:txBody>
                    <a:bodyPr/>
                    <a:lstStyle/>
                    <a:p>
                      <a:r>
                        <a:rPr lang="es-ES" sz="1400" dirty="0" err="1"/>
                        <a:t>codProducto</a:t>
                      </a:r>
                      <a:endParaRPr lang="es-ES" sz="1400" dirty="0"/>
                    </a:p>
                  </a:txBody>
                  <a:tcPr/>
                </a:tc>
                <a:tc>
                  <a:txBody>
                    <a:bodyPr/>
                    <a:lstStyle/>
                    <a:p>
                      <a:r>
                        <a:rPr lang="es-ES" sz="1400" dirty="0" err="1"/>
                        <a:t>cantidadPedida</a:t>
                      </a:r>
                      <a:endParaRPr lang="es-ES" sz="1400" dirty="0"/>
                    </a:p>
                  </a:txBody>
                  <a:tcPr/>
                </a:tc>
                <a:extLst>
                  <a:ext uri="{0D108BD9-81ED-4DB2-BD59-A6C34878D82A}">
                    <a16:rowId xmlns:a16="http://schemas.microsoft.com/office/drawing/2014/main" val="2093092736"/>
                  </a:ext>
                </a:extLst>
              </a:tr>
              <a:tr h="245569">
                <a:tc>
                  <a:txBody>
                    <a:bodyPr/>
                    <a:lstStyle/>
                    <a:p>
                      <a:pPr algn="ctr"/>
                      <a:r>
                        <a:rPr lang="es-ES" sz="1400" dirty="0"/>
                        <a:t>001</a:t>
                      </a:r>
                    </a:p>
                  </a:txBody>
                  <a:tcPr/>
                </a:tc>
                <a:tc>
                  <a:txBody>
                    <a:bodyPr/>
                    <a:lstStyle/>
                    <a:p>
                      <a:pPr algn="ctr"/>
                      <a:r>
                        <a:rPr lang="es-ES" sz="1400" dirty="0"/>
                        <a:t>010</a:t>
                      </a:r>
                    </a:p>
                  </a:txBody>
                  <a:tcPr/>
                </a:tc>
                <a:tc>
                  <a:txBody>
                    <a:bodyPr/>
                    <a:lstStyle/>
                    <a:p>
                      <a:pPr algn="ctr"/>
                      <a:r>
                        <a:rPr lang="es-ES" sz="1400" dirty="0"/>
                        <a:t>5</a:t>
                      </a:r>
                    </a:p>
                  </a:txBody>
                  <a:tcPr/>
                </a:tc>
                <a:extLst>
                  <a:ext uri="{0D108BD9-81ED-4DB2-BD59-A6C34878D82A}">
                    <a16:rowId xmlns:a16="http://schemas.microsoft.com/office/drawing/2014/main" val="4229511804"/>
                  </a:ext>
                </a:extLst>
              </a:tr>
              <a:tr h="245569">
                <a:tc>
                  <a:txBody>
                    <a:bodyPr/>
                    <a:lstStyle/>
                    <a:p>
                      <a:pPr algn="ctr"/>
                      <a:r>
                        <a:rPr lang="es-ES" sz="1400" dirty="0"/>
                        <a:t>001</a:t>
                      </a:r>
                    </a:p>
                  </a:txBody>
                  <a:tcPr/>
                </a:tc>
                <a:tc>
                  <a:txBody>
                    <a:bodyPr/>
                    <a:lstStyle/>
                    <a:p>
                      <a:pPr algn="ctr"/>
                      <a:r>
                        <a:rPr lang="es-ES" sz="1400" dirty="0"/>
                        <a:t>020</a:t>
                      </a:r>
                    </a:p>
                  </a:txBody>
                  <a:tcPr/>
                </a:tc>
                <a:tc>
                  <a:txBody>
                    <a:bodyPr/>
                    <a:lstStyle/>
                    <a:p>
                      <a:pPr algn="ctr"/>
                      <a:r>
                        <a:rPr lang="es-ES" sz="1400" dirty="0"/>
                        <a:t>2</a:t>
                      </a:r>
                    </a:p>
                  </a:txBody>
                  <a:tcPr/>
                </a:tc>
                <a:extLst>
                  <a:ext uri="{0D108BD9-81ED-4DB2-BD59-A6C34878D82A}">
                    <a16:rowId xmlns:a16="http://schemas.microsoft.com/office/drawing/2014/main" val="4113967575"/>
                  </a:ext>
                </a:extLst>
              </a:tr>
              <a:tr h="245569">
                <a:tc>
                  <a:txBody>
                    <a:bodyPr/>
                    <a:lstStyle/>
                    <a:p>
                      <a:pPr algn="ctr"/>
                      <a:r>
                        <a:rPr lang="es-ES" sz="1400" dirty="0"/>
                        <a:t>002</a:t>
                      </a:r>
                    </a:p>
                  </a:txBody>
                  <a:tcPr/>
                </a:tc>
                <a:tc>
                  <a:txBody>
                    <a:bodyPr/>
                    <a:lstStyle/>
                    <a:p>
                      <a:pPr algn="ctr"/>
                      <a:r>
                        <a:rPr lang="es-ES" sz="1400" dirty="0"/>
                        <a:t>030</a:t>
                      </a:r>
                    </a:p>
                  </a:txBody>
                  <a:tcPr/>
                </a:tc>
                <a:tc>
                  <a:txBody>
                    <a:bodyPr/>
                    <a:lstStyle/>
                    <a:p>
                      <a:pPr algn="ctr"/>
                      <a:r>
                        <a:rPr lang="es-ES" sz="1400" dirty="0"/>
                        <a:t>6</a:t>
                      </a:r>
                    </a:p>
                  </a:txBody>
                  <a:tcPr/>
                </a:tc>
                <a:extLst>
                  <a:ext uri="{0D108BD9-81ED-4DB2-BD59-A6C34878D82A}">
                    <a16:rowId xmlns:a16="http://schemas.microsoft.com/office/drawing/2014/main" val="1830815900"/>
                  </a:ext>
                </a:extLst>
              </a:tr>
              <a:tr h="245569">
                <a:tc>
                  <a:txBody>
                    <a:bodyPr/>
                    <a:lstStyle/>
                    <a:p>
                      <a:pPr algn="ctr"/>
                      <a:r>
                        <a:rPr lang="es-ES" sz="1400" dirty="0"/>
                        <a:t>002</a:t>
                      </a:r>
                    </a:p>
                  </a:txBody>
                  <a:tcPr/>
                </a:tc>
                <a:tc>
                  <a:txBody>
                    <a:bodyPr/>
                    <a:lstStyle/>
                    <a:p>
                      <a:pPr algn="ctr"/>
                      <a:r>
                        <a:rPr lang="es-ES" sz="1400" dirty="0"/>
                        <a:t>040</a:t>
                      </a:r>
                    </a:p>
                  </a:txBody>
                  <a:tcPr/>
                </a:tc>
                <a:tc>
                  <a:txBody>
                    <a:bodyPr/>
                    <a:lstStyle/>
                    <a:p>
                      <a:pPr algn="ctr"/>
                      <a:r>
                        <a:rPr lang="es-ES" sz="1400" dirty="0"/>
                        <a:t>2</a:t>
                      </a:r>
                    </a:p>
                  </a:txBody>
                  <a:tcPr/>
                </a:tc>
                <a:extLst>
                  <a:ext uri="{0D108BD9-81ED-4DB2-BD59-A6C34878D82A}">
                    <a16:rowId xmlns:a16="http://schemas.microsoft.com/office/drawing/2014/main" val="498245384"/>
                  </a:ext>
                </a:extLst>
              </a:tr>
            </a:tbl>
          </a:graphicData>
        </a:graphic>
      </p:graphicFrame>
      <p:sp>
        <p:nvSpPr>
          <p:cNvPr id="12" name="CuadroTexto 11">
            <a:extLst>
              <a:ext uri="{FF2B5EF4-FFF2-40B4-BE49-F238E27FC236}">
                <a16:creationId xmlns:a16="http://schemas.microsoft.com/office/drawing/2014/main" id="{B6AD0074-B600-205D-0E0B-41A5137635BF}"/>
              </a:ext>
            </a:extLst>
          </p:cNvPr>
          <p:cNvSpPr txBox="1"/>
          <p:nvPr/>
        </p:nvSpPr>
        <p:spPr>
          <a:xfrm>
            <a:off x="994419" y="3924133"/>
            <a:ext cx="1787869" cy="369332"/>
          </a:xfrm>
          <a:prstGeom prst="rect">
            <a:avLst/>
          </a:prstGeom>
          <a:noFill/>
        </p:spPr>
        <p:txBody>
          <a:bodyPr wrap="square" rtlCol="0">
            <a:spAutoFit/>
          </a:bodyPr>
          <a:lstStyle/>
          <a:p>
            <a:r>
              <a:rPr lang="es-ES" dirty="0"/>
              <a:t>Pedido</a:t>
            </a:r>
          </a:p>
        </p:txBody>
      </p:sp>
      <p:sp>
        <p:nvSpPr>
          <p:cNvPr id="13" name="CuadroTexto 12">
            <a:extLst>
              <a:ext uri="{FF2B5EF4-FFF2-40B4-BE49-F238E27FC236}">
                <a16:creationId xmlns:a16="http://schemas.microsoft.com/office/drawing/2014/main" id="{A285FDE4-2604-01F9-BB3F-967C548DC014}"/>
              </a:ext>
            </a:extLst>
          </p:cNvPr>
          <p:cNvSpPr txBox="1"/>
          <p:nvPr/>
        </p:nvSpPr>
        <p:spPr>
          <a:xfrm>
            <a:off x="3983179" y="3891867"/>
            <a:ext cx="2126948" cy="369332"/>
          </a:xfrm>
          <a:prstGeom prst="rect">
            <a:avLst/>
          </a:prstGeom>
          <a:noFill/>
        </p:spPr>
        <p:txBody>
          <a:bodyPr wrap="square" rtlCol="0">
            <a:spAutoFit/>
          </a:bodyPr>
          <a:lstStyle/>
          <a:p>
            <a:r>
              <a:rPr lang="es-ES" dirty="0" err="1"/>
              <a:t>Lineas_Pedido</a:t>
            </a:r>
            <a:endParaRPr lang="es-ES" dirty="0"/>
          </a:p>
        </p:txBody>
      </p:sp>
      <p:graphicFrame>
        <p:nvGraphicFramePr>
          <p:cNvPr id="14" name="Tabla 14">
            <a:extLst>
              <a:ext uri="{FF2B5EF4-FFF2-40B4-BE49-F238E27FC236}">
                <a16:creationId xmlns:a16="http://schemas.microsoft.com/office/drawing/2014/main" id="{D44D1C74-15B9-4274-2225-0FB26DE850FD}"/>
              </a:ext>
            </a:extLst>
          </p:cNvPr>
          <p:cNvGraphicFramePr>
            <a:graphicFrameLocks noGrp="1"/>
          </p:cNvGraphicFramePr>
          <p:nvPr>
            <p:extLst>
              <p:ext uri="{D42A27DB-BD31-4B8C-83A1-F6EECF244321}">
                <p14:modId xmlns:p14="http://schemas.microsoft.com/office/powerpoint/2010/main" val="1508881292"/>
              </p:ext>
            </p:extLst>
          </p:nvPr>
        </p:nvGraphicFramePr>
        <p:xfrm>
          <a:off x="7438760" y="4324357"/>
          <a:ext cx="4607060" cy="1524000"/>
        </p:xfrm>
        <a:graphic>
          <a:graphicData uri="http://schemas.openxmlformats.org/drawingml/2006/table">
            <a:tbl>
              <a:tblPr firstRow="1" bandRow="1">
                <a:tableStyleId>{5C22544A-7EE6-4342-B048-85BDC9FD1C3A}</a:tableStyleId>
              </a:tblPr>
              <a:tblGrid>
                <a:gridCol w="1271910">
                  <a:extLst>
                    <a:ext uri="{9D8B030D-6E8A-4147-A177-3AD203B41FA5}">
                      <a16:colId xmlns:a16="http://schemas.microsoft.com/office/drawing/2014/main" val="2855466429"/>
                    </a:ext>
                  </a:extLst>
                </a:gridCol>
                <a:gridCol w="1170448">
                  <a:extLst>
                    <a:ext uri="{9D8B030D-6E8A-4147-A177-3AD203B41FA5}">
                      <a16:colId xmlns:a16="http://schemas.microsoft.com/office/drawing/2014/main" val="452997772"/>
                    </a:ext>
                  </a:extLst>
                </a:gridCol>
                <a:gridCol w="1012937">
                  <a:extLst>
                    <a:ext uri="{9D8B030D-6E8A-4147-A177-3AD203B41FA5}">
                      <a16:colId xmlns:a16="http://schemas.microsoft.com/office/drawing/2014/main" val="3077547323"/>
                    </a:ext>
                  </a:extLst>
                </a:gridCol>
                <a:gridCol w="1151765">
                  <a:extLst>
                    <a:ext uri="{9D8B030D-6E8A-4147-A177-3AD203B41FA5}">
                      <a16:colId xmlns:a16="http://schemas.microsoft.com/office/drawing/2014/main" val="2807932211"/>
                    </a:ext>
                  </a:extLst>
                </a:gridCol>
              </a:tblGrid>
              <a:tr h="304800">
                <a:tc>
                  <a:txBody>
                    <a:bodyPr/>
                    <a:lstStyle/>
                    <a:p>
                      <a:r>
                        <a:rPr lang="es-ES" sz="1100" dirty="0" err="1"/>
                        <a:t>codProducto</a:t>
                      </a:r>
                      <a:endParaRPr lang="es-ES" sz="1100" dirty="0"/>
                    </a:p>
                  </a:txBody>
                  <a:tcPr/>
                </a:tc>
                <a:tc>
                  <a:txBody>
                    <a:bodyPr/>
                    <a:lstStyle/>
                    <a:p>
                      <a:r>
                        <a:rPr lang="es-ES" sz="1100" dirty="0" err="1"/>
                        <a:t>descProducto</a:t>
                      </a:r>
                      <a:endParaRPr lang="es-ES" sz="1100" dirty="0"/>
                    </a:p>
                  </a:txBody>
                  <a:tcPr/>
                </a:tc>
                <a:tc>
                  <a:txBody>
                    <a:bodyPr/>
                    <a:lstStyle/>
                    <a:p>
                      <a:r>
                        <a:rPr lang="es-ES" sz="1100" dirty="0" err="1"/>
                        <a:t>codProveedor</a:t>
                      </a:r>
                      <a:endParaRPr lang="es-ES" sz="1100" dirty="0"/>
                    </a:p>
                  </a:txBody>
                  <a:tcPr/>
                </a:tc>
                <a:tc>
                  <a:txBody>
                    <a:bodyPr/>
                    <a:lstStyle/>
                    <a:p>
                      <a:r>
                        <a:rPr lang="es-ES" sz="1100" dirty="0" err="1"/>
                        <a:t>telfProveedor</a:t>
                      </a:r>
                      <a:endParaRPr lang="es-ES" sz="1100" dirty="0"/>
                    </a:p>
                  </a:txBody>
                  <a:tcPr/>
                </a:tc>
                <a:extLst>
                  <a:ext uri="{0D108BD9-81ED-4DB2-BD59-A6C34878D82A}">
                    <a16:rowId xmlns:a16="http://schemas.microsoft.com/office/drawing/2014/main" val="1924114812"/>
                  </a:ext>
                </a:extLst>
              </a:tr>
              <a:tr h="304800">
                <a:tc>
                  <a:txBody>
                    <a:bodyPr/>
                    <a:lstStyle/>
                    <a:p>
                      <a:pPr algn="ctr"/>
                      <a:r>
                        <a:rPr lang="es-ES" sz="1400" dirty="0"/>
                        <a:t>010</a:t>
                      </a:r>
                    </a:p>
                  </a:txBody>
                  <a:tcPr/>
                </a:tc>
                <a:tc>
                  <a:txBody>
                    <a:bodyPr/>
                    <a:lstStyle/>
                    <a:p>
                      <a:pPr algn="ctr"/>
                      <a:r>
                        <a:rPr lang="es-ES" sz="1400" dirty="0"/>
                        <a:t>Galletas</a:t>
                      </a:r>
                    </a:p>
                  </a:txBody>
                  <a:tcPr/>
                </a:tc>
                <a:tc>
                  <a:txBody>
                    <a:bodyPr/>
                    <a:lstStyle/>
                    <a:p>
                      <a:pPr algn="ctr"/>
                      <a:r>
                        <a:rPr lang="es-ES" sz="1400" dirty="0"/>
                        <a:t>10</a:t>
                      </a:r>
                    </a:p>
                  </a:txBody>
                  <a:tcPr/>
                </a:tc>
                <a:tc>
                  <a:txBody>
                    <a:bodyPr/>
                    <a:lstStyle/>
                    <a:p>
                      <a:pPr algn="ctr"/>
                      <a:r>
                        <a:rPr lang="es-ES" sz="1400" dirty="0"/>
                        <a:t>111</a:t>
                      </a:r>
                    </a:p>
                  </a:txBody>
                  <a:tcPr/>
                </a:tc>
                <a:extLst>
                  <a:ext uri="{0D108BD9-81ED-4DB2-BD59-A6C34878D82A}">
                    <a16:rowId xmlns:a16="http://schemas.microsoft.com/office/drawing/2014/main" val="19412183"/>
                  </a:ext>
                </a:extLst>
              </a:tr>
              <a:tr h="304800">
                <a:tc>
                  <a:txBody>
                    <a:bodyPr/>
                    <a:lstStyle/>
                    <a:p>
                      <a:pPr algn="ctr"/>
                      <a:r>
                        <a:rPr lang="es-ES" sz="1400" dirty="0"/>
                        <a:t>020</a:t>
                      </a:r>
                    </a:p>
                  </a:txBody>
                  <a:tcPr/>
                </a:tc>
                <a:tc>
                  <a:txBody>
                    <a:bodyPr/>
                    <a:lstStyle/>
                    <a:p>
                      <a:pPr algn="ctr"/>
                      <a:r>
                        <a:rPr lang="es-ES" sz="1400" dirty="0"/>
                        <a:t>Zumo</a:t>
                      </a:r>
                    </a:p>
                  </a:txBody>
                  <a:tcPr/>
                </a:tc>
                <a:tc>
                  <a:txBody>
                    <a:bodyPr/>
                    <a:lstStyle/>
                    <a:p>
                      <a:pPr algn="ctr"/>
                      <a:r>
                        <a:rPr lang="es-ES" sz="1400" dirty="0"/>
                        <a:t>20</a:t>
                      </a:r>
                    </a:p>
                  </a:txBody>
                  <a:tcPr/>
                </a:tc>
                <a:tc>
                  <a:txBody>
                    <a:bodyPr/>
                    <a:lstStyle/>
                    <a:p>
                      <a:pPr algn="ctr"/>
                      <a:r>
                        <a:rPr lang="es-ES" sz="1400" dirty="0"/>
                        <a:t>222</a:t>
                      </a:r>
                    </a:p>
                  </a:txBody>
                  <a:tcPr/>
                </a:tc>
                <a:extLst>
                  <a:ext uri="{0D108BD9-81ED-4DB2-BD59-A6C34878D82A}">
                    <a16:rowId xmlns:a16="http://schemas.microsoft.com/office/drawing/2014/main" val="3687051071"/>
                  </a:ext>
                </a:extLst>
              </a:tr>
              <a:tr h="304800">
                <a:tc>
                  <a:txBody>
                    <a:bodyPr/>
                    <a:lstStyle/>
                    <a:p>
                      <a:pPr algn="ctr"/>
                      <a:r>
                        <a:rPr lang="es-ES" sz="1400" dirty="0"/>
                        <a:t>030</a:t>
                      </a:r>
                    </a:p>
                  </a:txBody>
                  <a:tcPr/>
                </a:tc>
                <a:tc>
                  <a:txBody>
                    <a:bodyPr/>
                    <a:lstStyle/>
                    <a:p>
                      <a:pPr algn="ctr"/>
                      <a:r>
                        <a:rPr lang="es-ES" sz="1400" dirty="0"/>
                        <a:t>Detergente</a:t>
                      </a:r>
                    </a:p>
                  </a:txBody>
                  <a:tcPr/>
                </a:tc>
                <a:tc>
                  <a:txBody>
                    <a:bodyPr/>
                    <a:lstStyle/>
                    <a:p>
                      <a:pPr algn="ctr"/>
                      <a:r>
                        <a:rPr lang="es-ES" sz="1400" dirty="0"/>
                        <a:t>30</a:t>
                      </a:r>
                    </a:p>
                  </a:txBody>
                  <a:tcPr/>
                </a:tc>
                <a:tc>
                  <a:txBody>
                    <a:bodyPr/>
                    <a:lstStyle/>
                    <a:p>
                      <a:pPr algn="ctr"/>
                      <a:r>
                        <a:rPr lang="es-ES" sz="1400" dirty="0"/>
                        <a:t>333</a:t>
                      </a:r>
                    </a:p>
                  </a:txBody>
                  <a:tcPr/>
                </a:tc>
                <a:extLst>
                  <a:ext uri="{0D108BD9-81ED-4DB2-BD59-A6C34878D82A}">
                    <a16:rowId xmlns:a16="http://schemas.microsoft.com/office/drawing/2014/main" val="988832011"/>
                  </a:ext>
                </a:extLst>
              </a:tr>
              <a:tr h="304800">
                <a:tc>
                  <a:txBody>
                    <a:bodyPr/>
                    <a:lstStyle/>
                    <a:p>
                      <a:pPr algn="ctr"/>
                      <a:r>
                        <a:rPr lang="es-ES" sz="1400" dirty="0"/>
                        <a:t>040</a:t>
                      </a:r>
                    </a:p>
                  </a:txBody>
                  <a:tcPr/>
                </a:tc>
                <a:tc>
                  <a:txBody>
                    <a:bodyPr/>
                    <a:lstStyle/>
                    <a:p>
                      <a:pPr algn="ctr"/>
                      <a:r>
                        <a:rPr lang="es-ES" sz="1400" dirty="0"/>
                        <a:t>Vino</a:t>
                      </a:r>
                    </a:p>
                  </a:txBody>
                  <a:tcPr/>
                </a:tc>
                <a:tc>
                  <a:txBody>
                    <a:bodyPr/>
                    <a:lstStyle/>
                    <a:p>
                      <a:pPr algn="ctr"/>
                      <a:r>
                        <a:rPr lang="es-ES" sz="1400" dirty="0"/>
                        <a:t>40</a:t>
                      </a:r>
                    </a:p>
                  </a:txBody>
                  <a:tcPr/>
                </a:tc>
                <a:tc>
                  <a:txBody>
                    <a:bodyPr/>
                    <a:lstStyle/>
                    <a:p>
                      <a:pPr algn="ctr"/>
                      <a:r>
                        <a:rPr lang="es-ES" sz="1400" dirty="0"/>
                        <a:t>444</a:t>
                      </a:r>
                    </a:p>
                  </a:txBody>
                  <a:tcPr/>
                </a:tc>
                <a:extLst>
                  <a:ext uri="{0D108BD9-81ED-4DB2-BD59-A6C34878D82A}">
                    <a16:rowId xmlns:a16="http://schemas.microsoft.com/office/drawing/2014/main" val="1356673950"/>
                  </a:ext>
                </a:extLst>
              </a:tr>
            </a:tbl>
          </a:graphicData>
        </a:graphic>
      </p:graphicFrame>
      <p:sp>
        <p:nvSpPr>
          <p:cNvPr id="15" name="CuadroTexto 14">
            <a:extLst>
              <a:ext uri="{FF2B5EF4-FFF2-40B4-BE49-F238E27FC236}">
                <a16:creationId xmlns:a16="http://schemas.microsoft.com/office/drawing/2014/main" id="{CCFA2031-CB72-8137-7986-1C64B12974C2}"/>
              </a:ext>
            </a:extLst>
          </p:cNvPr>
          <p:cNvSpPr txBox="1"/>
          <p:nvPr/>
        </p:nvSpPr>
        <p:spPr>
          <a:xfrm>
            <a:off x="8869494" y="3904861"/>
            <a:ext cx="1912775" cy="369332"/>
          </a:xfrm>
          <a:prstGeom prst="rect">
            <a:avLst/>
          </a:prstGeom>
          <a:noFill/>
        </p:spPr>
        <p:txBody>
          <a:bodyPr wrap="square" rtlCol="0">
            <a:spAutoFit/>
          </a:bodyPr>
          <a:lstStyle/>
          <a:p>
            <a:r>
              <a:rPr lang="es-ES" dirty="0"/>
              <a:t>Producto</a:t>
            </a:r>
          </a:p>
        </p:txBody>
      </p:sp>
    </p:spTree>
    <p:extLst>
      <p:ext uri="{BB962C8B-B14F-4D97-AF65-F5344CB8AC3E}">
        <p14:creationId xmlns:p14="http://schemas.microsoft.com/office/powerpoint/2010/main" val="3233068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ACCE968-4A03-C9A6-CD89-A14834656B30}"/>
              </a:ext>
            </a:extLst>
          </p:cNvPr>
          <p:cNvSpPr>
            <a:spLocks noGrp="1"/>
          </p:cNvSpPr>
          <p:nvPr>
            <p:ph type="body" sz="quarter" idx="10"/>
          </p:nvPr>
        </p:nvSpPr>
        <p:spPr/>
        <p:txBody>
          <a:bodyPr>
            <a:normAutofit fontScale="92500" lnSpcReduction="10000"/>
          </a:bodyPr>
          <a:lstStyle/>
          <a:p>
            <a:r>
              <a:rPr lang="es-ES" dirty="0"/>
              <a:t>3FN (Tercera Forma Normal)</a:t>
            </a:r>
          </a:p>
        </p:txBody>
      </p:sp>
      <p:sp>
        <p:nvSpPr>
          <p:cNvPr id="3" name="CuadroTexto 2">
            <a:extLst>
              <a:ext uri="{FF2B5EF4-FFF2-40B4-BE49-F238E27FC236}">
                <a16:creationId xmlns:a16="http://schemas.microsoft.com/office/drawing/2014/main" id="{C64D191B-8DC2-19D6-27BC-612A3644B456}"/>
              </a:ext>
            </a:extLst>
          </p:cNvPr>
          <p:cNvSpPr txBox="1"/>
          <p:nvPr/>
        </p:nvSpPr>
        <p:spPr>
          <a:xfrm>
            <a:off x="1170432" y="1911096"/>
            <a:ext cx="9994392" cy="4524315"/>
          </a:xfrm>
          <a:prstGeom prst="rect">
            <a:avLst/>
          </a:prstGeom>
          <a:noFill/>
        </p:spPr>
        <p:txBody>
          <a:bodyPr wrap="square" rtlCol="0">
            <a:spAutoFit/>
          </a:bodyPr>
          <a:lstStyle/>
          <a:p>
            <a:r>
              <a:rPr lang="es-ES" sz="1800" b="0" i="1" u="none" strike="noStrike" baseline="0" dirty="0">
                <a:solidFill>
                  <a:srgbClr val="000000"/>
                </a:solidFill>
                <a:latin typeface="Calibri" panose="020F0502020204030204" pitchFamily="34" charset="0"/>
              </a:rPr>
              <a:t>Una tabla está en 3FN cuando, además de estar en 2FN (y por tanto, en 1FN) se cumple que todos los campos que no forman parte de la clave hacen referencia sólo a la clave, y no se hacen referencia entre sí. Es decir, no depende transitivamente de alguna de las claves. </a:t>
            </a:r>
          </a:p>
          <a:p>
            <a:endParaRPr lang="es-ES" i="1" dirty="0">
              <a:solidFill>
                <a:srgbClr val="000000"/>
              </a:solidFill>
              <a:latin typeface="Calibri" panose="020F0502020204030204" pitchFamily="34" charset="0"/>
            </a:endParaRPr>
          </a:p>
          <a:p>
            <a:r>
              <a:rPr lang="es-ES" i="1" dirty="0">
                <a:solidFill>
                  <a:srgbClr val="000000"/>
                </a:solidFill>
                <a:latin typeface="Calibri" panose="020F0502020204030204" pitchFamily="34" charset="0"/>
              </a:rPr>
              <a:t>En el ejemplo anterior:</a:t>
            </a:r>
          </a:p>
          <a:p>
            <a:endParaRPr lang="es-ES" i="1" dirty="0">
              <a:solidFill>
                <a:srgbClr val="000000"/>
              </a:solidFill>
              <a:latin typeface="Calibri" panose="020F0502020204030204" pitchFamily="34" charset="0"/>
            </a:endParaRPr>
          </a:p>
          <a:p>
            <a:r>
              <a:rPr lang="es-ES" dirty="0">
                <a:solidFill>
                  <a:srgbClr val="000000"/>
                </a:solidFill>
                <a:latin typeface="Calibri" panose="020F0502020204030204" pitchFamily="34" charset="0"/>
              </a:rPr>
              <a:t>Producto(</a:t>
            </a:r>
            <a:r>
              <a:rPr lang="es-ES" u="sng" dirty="0" err="1">
                <a:solidFill>
                  <a:srgbClr val="000000"/>
                </a:solidFill>
                <a:latin typeface="Calibri" panose="020F0502020204030204" pitchFamily="34" charset="0"/>
              </a:rPr>
              <a:t>codProducto</a:t>
            </a:r>
            <a:r>
              <a:rPr lang="es-ES"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descProducto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codProveedor</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telfProveedor</a:t>
            </a:r>
            <a:r>
              <a:rPr lang="es-ES" dirty="0">
                <a:solidFill>
                  <a:srgbClr val="000000"/>
                </a:solidFill>
                <a:latin typeface="Calibri" panose="020F0502020204030204" pitchFamily="34" charset="0"/>
              </a:rPr>
              <a:t>)</a:t>
            </a:r>
            <a:endParaRPr lang="es-ES" sz="1800" dirty="0">
              <a:solidFill>
                <a:srgbClr val="000000"/>
              </a:solidFill>
              <a:latin typeface="Calibri" panose="020F0502020204030204" pitchFamily="34" charset="0"/>
            </a:endParaRPr>
          </a:p>
          <a:p>
            <a:endParaRPr lang="es-ES" i="1" dirty="0">
              <a:solidFill>
                <a:srgbClr val="000000"/>
              </a:solidFill>
              <a:latin typeface="Calibri" panose="020F0502020204030204" pitchFamily="34" charset="0"/>
            </a:endParaRPr>
          </a:p>
          <a:p>
            <a:endParaRPr lang="es-ES" i="1" dirty="0">
              <a:solidFill>
                <a:srgbClr val="000000"/>
              </a:solidFill>
              <a:latin typeface="Calibri" panose="020F0502020204030204" pitchFamily="34" charset="0"/>
            </a:endParaRPr>
          </a:p>
          <a:p>
            <a:endParaRPr lang="es-ES" i="1" dirty="0">
              <a:solidFill>
                <a:srgbClr val="000000"/>
              </a:solidFill>
              <a:latin typeface="Calibri" panose="020F0502020204030204" pitchFamily="34" charset="0"/>
            </a:endParaRPr>
          </a:p>
          <a:p>
            <a:endParaRPr lang="es-ES" i="1" dirty="0">
              <a:solidFill>
                <a:srgbClr val="000000"/>
              </a:solidFill>
              <a:latin typeface="Calibri" panose="020F0502020204030204" pitchFamily="34" charset="0"/>
            </a:endParaRPr>
          </a:p>
          <a:p>
            <a:r>
              <a:rPr lang="es-ES" i="1" dirty="0">
                <a:solidFill>
                  <a:srgbClr val="000000"/>
                </a:solidFill>
                <a:latin typeface="Calibri" panose="020F0502020204030204" pitchFamily="34" charset="0"/>
              </a:rPr>
              <a:t>Cuando desde la clave principal existe más de un camino para llegar a cada uno de los atributos no clave existe una </a:t>
            </a:r>
            <a:r>
              <a:rPr lang="es-ES" b="1" i="1" dirty="0">
                <a:solidFill>
                  <a:srgbClr val="000000"/>
                </a:solidFill>
                <a:latin typeface="Calibri" panose="020F0502020204030204" pitchFamily="34" charset="0"/>
              </a:rPr>
              <a:t>dependencia transitiva </a:t>
            </a:r>
            <a:r>
              <a:rPr lang="es-ES" i="1" dirty="0">
                <a:solidFill>
                  <a:srgbClr val="000000"/>
                </a:solidFill>
                <a:latin typeface="Calibri" panose="020F0502020204030204" pitchFamily="34" charset="0"/>
              </a:rPr>
              <a:t>con la clave, ya que para llegar a </a:t>
            </a:r>
            <a:r>
              <a:rPr lang="es-ES" i="1" dirty="0" err="1">
                <a:solidFill>
                  <a:srgbClr val="000000"/>
                </a:solidFill>
                <a:latin typeface="Calibri" panose="020F0502020204030204" pitchFamily="34" charset="0"/>
              </a:rPr>
              <a:t>telfProveedor</a:t>
            </a:r>
            <a:r>
              <a:rPr lang="es-ES" i="1" dirty="0">
                <a:solidFill>
                  <a:srgbClr val="000000"/>
                </a:solidFill>
                <a:latin typeface="Calibri" panose="020F0502020204030204" pitchFamily="34" charset="0"/>
              </a:rPr>
              <a:t> a través de </a:t>
            </a:r>
            <a:r>
              <a:rPr lang="es-ES" i="1" dirty="0" err="1">
                <a:solidFill>
                  <a:srgbClr val="000000"/>
                </a:solidFill>
                <a:latin typeface="Calibri" panose="020F0502020204030204" pitchFamily="34" charset="0"/>
              </a:rPr>
              <a:t>codProducto</a:t>
            </a:r>
            <a:r>
              <a:rPr lang="es-ES" i="1" dirty="0">
                <a:solidFill>
                  <a:srgbClr val="000000"/>
                </a:solidFill>
                <a:latin typeface="Calibri" panose="020F0502020204030204" pitchFamily="34" charset="0"/>
              </a:rPr>
              <a:t> hay que hacer referencia a </a:t>
            </a:r>
            <a:r>
              <a:rPr lang="es-ES" i="1" dirty="0" err="1">
                <a:solidFill>
                  <a:srgbClr val="000000"/>
                </a:solidFill>
                <a:latin typeface="Calibri" panose="020F0502020204030204" pitchFamily="34" charset="0"/>
              </a:rPr>
              <a:t>codProvedor</a:t>
            </a:r>
            <a:r>
              <a:rPr lang="es-ES" i="1" dirty="0">
                <a:solidFill>
                  <a:srgbClr val="000000"/>
                </a:solidFill>
                <a:latin typeface="Calibri" panose="020F0502020204030204" pitchFamily="34" charset="0"/>
              </a:rPr>
              <a:t>.</a:t>
            </a:r>
          </a:p>
          <a:p>
            <a:endParaRPr lang="es-ES" i="1" dirty="0">
              <a:solidFill>
                <a:srgbClr val="000000"/>
              </a:solidFill>
              <a:latin typeface="Calibri" panose="020F0502020204030204" pitchFamily="34" charset="0"/>
            </a:endParaRPr>
          </a:p>
          <a:p>
            <a:endParaRPr lang="es-ES" dirty="0"/>
          </a:p>
        </p:txBody>
      </p:sp>
      <p:pic>
        <p:nvPicPr>
          <p:cNvPr id="6" name="Imagen 5">
            <a:extLst>
              <a:ext uri="{FF2B5EF4-FFF2-40B4-BE49-F238E27FC236}">
                <a16:creationId xmlns:a16="http://schemas.microsoft.com/office/drawing/2014/main" id="{229B096D-14C8-1BFB-AD48-FFC8206D4661}"/>
              </a:ext>
            </a:extLst>
          </p:cNvPr>
          <p:cNvPicPr>
            <a:picLocks noChangeAspect="1"/>
          </p:cNvPicPr>
          <p:nvPr/>
        </p:nvPicPr>
        <p:blipFill>
          <a:blip r:embed="rId2"/>
          <a:stretch>
            <a:fillRect/>
          </a:stretch>
        </p:blipFill>
        <p:spPr>
          <a:xfrm>
            <a:off x="8074090" y="2853320"/>
            <a:ext cx="3161051" cy="1588052"/>
          </a:xfrm>
          <a:prstGeom prst="rect">
            <a:avLst/>
          </a:prstGeom>
        </p:spPr>
      </p:pic>
    </p:spTree>
    <p:extLst>
      <p:ext uri="{BB962C8B-B14F-4D97-AF65-F5344CB8AC3E}">
        <p14:creationId xmlns:p14="http://schemas.microsoft.com/office/powerpoint/2010/main" val="2709500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018339C-BF35-C692-59A3-AE9F014F3ED4}"/>
              </a:ext>
            </a:extLst>
          </p:cNvPr>
          <p:cNvSpPr>
            <a:spLocks noGrp="1"/>
          </p:cNvSpPr>
          <p:nvPr>
            <p:ph type="body" sz="quarter" idx="10"/>
          </p:nvPr>
        </p:nvSpPr>
        <p:spPr/>
        <p:txBody>
          <a:bodyPr>
            <a:normAutofit fontScale="92500" lnSpcReduction="10000"/>
          </a:bodyPr>
          <a:lstStyle/>
          <a:p>
            <a:r>
              <a:rPr lang="es-ES" dirty="0"/>
              <a:t>Solución</a:t>
            </a:r>
          </a:p>
        </p:txBody>
      </p:sp>
      <p:sp>
        <p:nvSpPr>
          <p:cNvPr id="3" name="CuadroTexto 2">
            <a:extLst>
              <a:ext uri="{FF2B5EF4-FFF2-40B4-BE49-F238E27FC236}">
                <a16:creationId xmlns:a16="http://schemas.microsoft.com/office/drawing/2014/main" id="{4B732062-FF98-71EC-5118-31DE14B514E7}"/>
              </a:ext>
            </a:extLst>
          </p:cNvPr>
          <p:cNvSpPr txBox="1"/>
          <p:nvPr/>
        </p:nvSpPr>
        <p:spPr>
          <a:xfrm>
            <a:off x="1179576" y="1929384"/>
            <a:ext cx="9454896" cy="2862322"/>
          </a:xfrm>
          <a:prstGeom prst="rect">
            <a:avLst/>
          </a:prstGeom>
          <a:noFill/>
        </p:spPr>
        <p:txBody>
          <a:bodyPr wrap="square" rtlCol="0">
            <a:spAutoFit/>
          </a:bodyPr>
          <a:lstStyle/>
          <a:p>
            <a:r>
              <a:rPr lang="es-ES" dirty="0"/>
              <a:t>Se debe crear una nueva tabla con el atributo o atributos que dependan transitivamente de la clave candidata, quitándolos de la antigua. La clave principal de la nueva tabla será el atributo del cual dependen</a:t>
            </a:r>
          </a:p>
          <a:p>
            <a:endParaRPr lang="es-ES" dirty="0"/>
          </a:p>
          <a:p>
            <a:r>
              <a:rPr lang="es-ES" dirty="0">
                <a:solidFill>
                  <a:srgbClr val="000000"/>
                </a:solidFill>
                <a:latin typeface="Calibri" panose="020F0502020204030204" pitchFamily="34" charset="0"/>
              </a:rPr>
              <a:t>Producto(</a:t>
            </a:r>
            <a:r>
              <a:rPr lang="es-ES" u="sng" dirty="0" err="1">
                <a:solidFill>
                  <a:srgbClr val="000000"/>
                </a:solidFill>
                <a:latin typeface="Calibri" panose="020F0502020204030204" pitchFamily="34" charset="0"/>
              </a:rPr>
              <a:t>codProducto</a:t>
            </a:r>
            <a:r>
              <a:rPr lang="es-ES"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descProducto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codProveedor</a:t>
            </a:r>
            <a:r>
              <a:rPr lang="es-ES" dirty="0">
                <a:solidFill>
                  <a:srgbClr val="000000"/>
                </a:solidFill>
                <a:latin typeface="Calibri" panose="020F0502020204030204" pitchFamily="34" charset="0"/>
              </a:rPr>
              <a:t>)</a:t>
            </a:r>
          </a:p>
          <a:p>
            <a:r>
              <a:rPr lang="es-ES" sz="1800" dirty="0">
                <a:solidFill>
                  <a:srgbClr val="000000"/>
                </a:solidFill>
                <a:latin typeface="Calibri" panose="020F0502020204030204" pitchFamily="34" charset="0"/>
              </a:rPr>
              <a:t>Proveedor(</a:t>
            </a:r>
            <a:r>
              <a:rPr lang="es-ES" sz="1800" u="sng" dirty="0" err="1">
                <a:solidFill>
                  <a:srgbClr val="000000"/>
                </a:solidFill>
                <a:latin typeface="Calibri" panose="020F0502020204030204" pitchFamily="34" charset="0"/>
              </a:rPr>
              <a:t>codProveedor</a:t>
            </a:r>
            <a:r>
              <a:rPr lang="es-ES" sz="1800" dirty="0">
                <a:solidFill>
                  <a:srgbClr val="000000"/>
                </a:solidFill>
                <a:latin typeface="Calibri" panose="020F0502020204030204" pitchFamily="34" charset="0"/>
              </a:rPr>
              <a:t>,</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telfProveedor</a:t>
            </a:r>
            <a:r>
              <a:rPr lang="es-ES" sz="1800" b="0" i="0" u="none" strike="noStrike" baseline="0" dirty="0">
                <a:solidFill>
                  <a:srgbClr val="000000"/>
                </a:solidFill>
                <a:latin typeface="Calibri" panose="020F0502020204030204" pitchFamily="34" charset="0"/>
              </a:rPr>
              <a:t>)</a:t>
            </a:r>
            <a:r>
              <a:rPr lang="es-ES" sz="1800" dirty="0">
                <a:solidFill>
                  <a:srgbClr val="000000"/>
                </a:solidFill>
                <a:latin typeface="Calibri" panose="020F0502020204030204" pitchFamily="34" charset="0"/>
              </a:rPr>
              <a:t> </a:t>
            </a:r>
          </a:p>
          <a:p>
            <a:endParaRPr lang="es-ES" dirty="0"/>
          </a:p>
          <a:p>
            <a:r>
              <a:rPr lang="es-ES" dirty="0"/>
              <a:t>                 Producto</a:t>
            </a:r>
          </a:p>
          <a:p>
            <a:endParaRPr lang="es-ES" dirty="0"/>
          </a:p>
          <a:p>
            <a:endParaRPr lang="es-ES" dirty="0"/>
          </a:p>
        </p:txBody>
      </p:sp>
      <p:graphicFrame>
        <p:nvGraphicFramePr>
          <p:cNvPr id="9" name="Tabla 8">
            <a:extLst>
              <a:ext uri="{FF2B5EF4-FFF2-40B4-BE49-F238E27FC236}">
                <a16:creationId xmlns:a16="http://schemas.microsoft.com/office/drawing/2014/main" id="{EEDE21B5-6F8F-8814-40FF-D6B1F0FBE55B}"/>
              </a:ext>
            </a:extLst>
          </p:cNvPr>
          <p:cNvGraphicFramePr>
            <a:graphicFrameLocks noGrp="1"/>
          </p:cNvGraphicFramePr>
          <p:nvPr>
            <p:extLst>
              <p:ext uri="{D42A27DB-BD31-4B8C-83A1-F6EECF244321}">
                <p14:modId xmlns:p14="http://schemas.microsoft.com/office/powerpoint/2010/main" val="320208453"/>
              </p:ext>
            </p:extLst>
          </p:nvPr>
        </p:nvGraphicFramePr>
        <p:xfrm>
          <a:off x="1179576" y="4216238"/>
          <a:ext cx="3455295" cy="1524000"/>
        </p:xfrm>
        <a:graphic>
          <a:graphicData uri="http://schemas.openxmlformats.org/drawingml/2006/table">
            <a:tbl>
              <a:tblPr firstRow="1" bandRow="1">
                <a:tableStyleId>{5C22544A-7EE6-4342-B048-85BDC9FD1C3A}</a:tableStyleId>
              </a:tblPr>
              <a:tblGrid>
                <a:gridCol w="1271910">
                  <a:extLst>
                    <a:ext uri="{9D8B030D-6E8A-4147-A177-3AD203B41FA5}">
                      <a16:colId xmlns:a16="http://schemas.microsoft.com/office/drawing/2014/main" val="3355317728"/>
                    </a:ext>
                  </a:extLst>
                </a:gridCol>
                <a:gridCol w="1170448">
                  <a:extLst>
                    <a:ext uri="{9D8B030D-6E8A-4147-A177-3AD203B41FA5}">
                      <a16:colId xmlns:a16="http://schemas.microsoft.com/office/drawing/2014/main" val="3887787356"/>
                    </a:ext>
                  </a:extLst>
                </a:gridCol>
                <a:gridCol w="1012937">
                  <a:extLst>
                    <a:ext uri="{9D8B030D-6E8A-4147-A177-3AD203B41FA5}">
                      <a16:colId xmlns:a16="http://schemas.microsoft.com/office/drawing/2014/main" val="2069871450"/>
                    </a:ext>
                  </a:extLst>
                </a:gridCol>
              </a:tblGrid>
              <a:tr h="304800">
                <a:tc>
                  <a:txBody>
                    <a:bodyPr/>
                    <a:lstStyle/>
                    <a:p>
                      <a:r>
                        <a:rPr lang="es-ES" sz="1100" dirty="0" err="1"/>
                        <a:t>codProducto</a:t>
                      </a:r>
                      <a:endParaRPr lang="es-ES" sz="1100" dirty="0"/>
                    </a:p>
                  </a:txBody>
                  <a:tcPr/>
                </a:tc>
                <a:tc>
                  <a:txBody>
                    <a:bodyPr/>
                    <a:lstStyle/>
                    <a:p>
                      <a:r>
                        <a:rPr lang="es-ES" sz="1100" dirty="0" err="1"/>
                        <a:t>descProducto</a:t>
                      </a:r>
                      <a:endParaRPr lang="es-ES" sz="1100" dirty="0"/>
                    </a:p>
                  </a:txBody>
                  <a:tcPr/>
                </a:tc>
                <a:tc>
                  <a:txBody>
                    <a:bodyPr/>
                    <a:lstStyle/>
                    <a:p>
                      <a:r>
                        <a:rPr lang="es-ES" sz="1100" dirty="0" err="1"/>
                        <a:t>codProveedor</a:t>
                      </a:r>
                      <a:endParaRPr lang="es-ES" sz="1100" dirty="0"/>
                    </a:p>
                  </a:txBody>
                  <a:tcPr/>
                </a:tc>
                <a:extLst>
                  <a:ext uri="{0D108BD9-81ED-4DB2-BD59-A6C34878D82A}">
                    <a16:rowId xmlns:a16="http://schemas.microsoft.com/office/drawing/2014/main" val="3063186333"/>
                  </a:ext>
                </a:extLst>
              </a:tr>
              <a:tr h="304800">
                <a:tc>
                  <a:txBody>
                    <a:bodyPr/>
                    <a:lstStyle/>
                    <a:p>
                      <a:pPr algn="ctr"/>
                      <a:r>
                        <a:rPr lang="es-ES" sz="1400" dirty="0"/>
                        <a:t>010</a:t>
                      </a:r>
                    </a:p>
                  </a:txBody>
                  <a:tcPr/>
                </a:tc>
                <a:tc>
                  <a:txBody>
                    <a:bodyPr/>
                    <a:lstStyle/>
                    <a:p>
                      <a:pPr algn="ctr"/>
                      <a:r>
                        <a:rPr lang="es-ES" sz="1400" dirty="0"/>
                        <a:t>Galletas</a:t>
                      </a:r>
                    </a:p>
                  </a:txBody>
                  <a:tcPr/>
                </a:tc>
                <a:tc>
                  <a:txBody>
                    <a:bodyPr/>
                    <a:lstStyle/>
                    <a:p>
                      <a:pPr algn="ctr"/>
                      <a:r>
                        <a:rPr lang="es-ES" sz="1400" dirty="0"/>
                        <a:t>10</a:t>
                      </a:r>
                    </a:p>
                  </a:txBody>
                  <a:tcPr/>
                </a:tc>
                <a:extLst>
                  <a:ext uri="{0D108BD9-81ED-4DB2-BD59-A6C34878D82A}">
                    <a16:rowId xmlns:a16="http://schemas.microsoft.com/office/drawing/2014/main" val="296140447"/>
                  </a:ext>
                </a:extLst>
              </a:tr>
              <a:tr h="304800">
                <a:tc>
                  <a:txBody>
                    <a:bodyPr/>
                    <a:lstStyle/>
                    <a:p>
                      <a:pPr algn="ctr"/>
                      <a:r>
                        <a:rPr lang="es-ES" sz="1400" dirty="0"/>
                        <a:t>020</a:t>
                      </a:r>
                    </a:p>
                  </a:txBody>
                  <a:tcPr/>
                </a:tc>
                <a:tc>
                  <a:txBody>
                    <a:bodyPr/>
                    <a:lstStyle/>
                    <a:p>
                      <a:pPr algn="ctr"/>
                      <a:r>
                        <a:rPr lang="es-ES" sz="1400" dirty="0"/>
                        <a:t>Zumo</a:t>
                      </a:r>
                    </a:p>
                  </a:txBody>
                  <a:tcPr/>
                </a:tc>
                <a:tc>
                  <a:txBody>
                    <a:bodyPr/>
                    <a:lstStyle/>
                    <a:p>
                      <a:pPr algn="ctr"/>
                      <a:r>
                        <a:rPr lang="es-ES" sz="1400" dirty="0"/>
                        <a:t>20</a:t>
                      </a:r>
                    </a:p>
                  </a:txBody>
                  <a:tcPr/>
                </a:tc>
                <a:extLst>
                  <a:ext uri="{0D108BD9-81ED-4DB2-BD59-A6C34878D82A}">
                    <a16:rowId xmlns:a16="http://schemas.microsoft.com/office/drawing/2014/main" val="492132173"/>
                  </a:ext>
                </a:extLst>
              </a:tr>
              <a:tr h="304800">
                <a:tc>
                  <a:txBody>
                    <a:bodyPr/>
                    <a:lstStyle/>
                    <a:p>
                      <a:pPr algn="ctr"/>
                      <a:r>
                        <a:rPr lang="es-ES" sz="1400" dirty="0"/>
                        <a:t>030</a:t>
                      </a:r>
                    </a:p>
                  </a:txBody>
                  <a:tcPr/>
                </a:tc>
                <a:tc>
                  <a:txBody>
                    <a:bodyPr/>
                    <a:lstStyle/>
                    <a:p>
                      <a:pPr algn="ctr"/>
                      <a:r>
                        <a:rPr lang="es-ES" sz="1400" dirty="0"/>
                        <a:t>Detergente</a:t>
                      </a:r>
                    </a:p>
                  </a:txBody>
                  <a:tcPr/>
                </a:tc>
                <a:tc>
                  <a:txBody>
                    <a:bodyPr/>
                    <a:lstStyle/>
                    <a:p>
                      <a:pPr algn="ctr"/>
                      <a:r>
                        <a:rPr lang="es-ES" sz="1400" dirty="0"/>
                        <a:t>30</a:t>
                      </a:r>
                    </a:p>
                  </a:txBody>
                  <a:tcPr/>
                </a:tc>
                <a:extLst>
                  <a:ext uri="{0D108BD9-81ED-4DB2-BD59-A6C34878D82A}">
                    <a16:rowId xmlns:a16="http://schemas.microsoft.com/office/drawing/2014/main" val="2433612208"/>
                  </a:ext>
                </a:extLst>
              </a:tr>
              <a:tr h="304800">
                <a:tc>
                  <a:txBody>
                    <a:bodyPr/>
                    <a:lstStyle/>
                    <a:p>
                      <a:pPr algn="ctr"/>
                      <a:r>
                        <a:rPr lang="es-ES" sz="1400" dirty="0"/>
                        <a:t>040</a:t>
                      </a:r>
                    </a:p>
                  </a:txBody>
                  <a:tcPr/>
                </a:tc>
                <a:tc>
                  <a:txBody>
                    <a:bodyPr/>
                    <a:lstStyle/>
                    <a:p>
                      <a:pPr algn="ctr"/>
                      <a:r>
                        <a:rPr lang="es-ES" sz="1400" dirty="0"/>
                        <a:t>Vino</a:t>
                      </a:r>
                    </a:p>
                  </a:txBody>
                  <a:tcPr/>
                </a:tc>
                <a:tc>
                  <a:txBody>
                    <a:bodyPr/>
                    <a:lstStyle/>
                    <a:p>
                      <a:pPr algn="ctr"/>
                      <a:r>
                        <a:rPr lang="es-ES" sz="1400" dirty="0"/>
                        <a:t>40</a:t>
                      </a:r>
                    </a:p>
                  </a:txBody>
                  <a:tcPr/>
                </a:tc>
                <a:extLst>
                  <a:ext uri="{0D108BD9-81ED-4DB2-BD59-A6C34878D82A}">
                    <a16:rowId xmlns:a16="http://schemas.microsoft.com/office/drawing/2014/main" val="1301384106"/>
                  </a:ext>
                </a:extLst>
              </a:tr>
            </a:tbl>
          </a:graphicData>
        </a:graphic>
      </p:graphicFrame>
      <p:graphicFrame>
        <p:nvGraphicFramePr>
          <p:cNvPr id="10" name="Tabla 9">
            <a:extLst>
              <a:ext uri="{FF2B5EF4-FFF2-40B4-BE49-F238E27FC236}">
                <a16:creationId xmlns:a16="http://schemas.microsoft.com/office/drawing/2014/main" id="{6E57CE04-AA07-1419-14F9-01020248B294}"/>
              </a:ext>
            </a:extLst>
          </p:cNvPr>
          <p:cNvGraphicFramePr>
            <a:graphicFrameLocks noGrp="1"/>
          </p:cNvGraphicFramePr>
          <p:nvPr>
            <p:extLst>
              <p:ext uri="{D42A27DB-BD31-4B8C-83A1-F6EECF244321}">
                <p14:modId xmlns:p14="http://schemas.microsoft.com/office/powerpoint/2010/main" val="385727622"/>
              </p:ext>
            </p:extLst>
          </p:nvPr>
        </p:nvGraphicFramePr>
        <p:xfrm>
          <a:off x="5674858" y="4215039"/>
          <a:ext cx="2164702" cy="1524000"/>
        </p:xfrm>
        <a:graphic>
          <a:graphicData uri="http://schemas.openxmlformats.org/drawingml/2006/table">
            <a:tbl>
              <a:tblPr firstRow="1" bandRow="1">
                <a:tableStyleId>{5C22544A-7EE6-4342-B048-85BDC9FD1C3A}</a:tableStyleId>
              </a:tblPr>
              <a:tblGrid>
                <a:gridCol w="1012937">
                  <a:extLst>
                    <a:ext uri="{9D8B030D-6E8A-4147-A177-3AD203B41FA5}">
                      <a16:colId xmlns:a16="http://schemas.microsoft.com/office/drawing/2014/main" val="2069871450"/>
                    </a:ext>
                  </a:extLst>
                </a:gridCol>
                <a:gridCol w="1151765">
                  <a:extLst>
                    <a:ext uri="{9D8B030D-6E8A-4147-A177-3AD203B41FA5}">
                      <a16:colId xmlns:a16="http://schemas.microsoft.com/office/drawing/2014/main" val="4016348694"/>
                    </a:ext>
                  </a:extLst>
                </a:gridCol>
              </a:tblGrid>
              <a:tr h="304800">
                <a:tc>
                  <a:txBody>
                    <a:bodyPr/>
                    <a:lstStyle/>
                    <a:p>
                      <a:r>
                        <a:rPr lang="es-ES" sz="1100" dirty="0" err="1"/>
                        <a:t>codProveedor</a:t>
                      </a:r>
                      <a:endParaRPr lang="es-ES" sz="1100" dirty="0"/>
                    </a:p>
                  </a:txBody>
                  <a:tcPr/>
                </a:tc>
                <a:tc>
                  <a:txBody>
                    <a:bodyPr/>
                    <a:lstStyle/>
                    <a:p>
                      <a:r>
                        <a:rPr lang="es-ES" sz="1100" dirty="0" err="1"/>
                        <a:t>telfProveedor</a:t>
                      </a:r>
                      <a:endParaRPr lang="es-ES" sz="1100" dirty="0"/>
                    </a:p>
                  </a:txBody>
                  <a:tcPr/>
                </a:tc>
                <a:extLst>
                  <a:ext uri="{0D108BD9-81ED-4DB2-BD59-A6C34878D82A}">
                    <a16:rowId xmlns:a16="http://schemas.microsoft.com/office/drawing/2014/main" val="3063186333"/>
                  </a:ext>
                </a:extLst>
              </a:tr>
              <a:tr h="304800">
                <a:tc>
                  <a:txBody>
                    <a:bodyPr/>
                    <a:lstStyle/>
                    <a:p>
                      <a:pPr algn="ctr"/>
                      <a:r>
                        <a:rPr lang="es-ES" sz="1400" dirty="0"/>
                        <a:t>10</a:t>
                      </a:r>
                    </a:p>
                  </a:txBody>
                  <a:tcPr/>
                </a:tc>
                <a:tc>
                  <a:txBody>
                    <a:bodyPr/>
                    <a:lstStyle/>
                    <a:p>
                      <a:pPr algn="ctr"/>
                      <a:r>
                        <a:rPr lang="es-ES" sz="1400" dirty="0"/>
                        <a:t>111</a:t>
                      </a:r>
                    </a:p>
                  </a:txBody>
                  <a:tcPr/>
                </a:tc>
                <a:extLst>
                  <a:ext uri="{0D108BD9-81ED-4DB2-BD59-A6C34878D82A}">
                    <a16:rowId xmlns:a16="http://schemas.microsoft.com/office/drawing/2014/main" val="296140447"/>
                  </a:ext>
                </a:extLst>
              </a:tr>
              <a:tr h="304800">
                <a:tc>
                  <a:txBody>
                    <a:bodyPr/>
                    <a:lstStyle/>
                    <a:p>
                      <a:pPr algn="ctr"/>
                      <a:r>
                        <a:rPr lang="es-ES" sz="1400" dirty="0"/>
                        <a:t>20</a:t>
                      </a:r>
                    </a:p>
                  </a:txBody>
                  <a:tcPr/>
                </a:tc>
                <a:tc>
                  <a:txBody>
                    <a:bodyPr/>
                    <a:lstStyle/>
                    <a:p>
                      <a:pPr algn="ctr"/>
                      <a:r>
                        <a:rPr lang="es-ES" sz="1400" dirty="0"/>
                        <a:t>222</a:t>
                      </a:r>
                    </a:p>
                  </a:txBody>
                  <a:tcPr/>
                </a:tc>
                <a:extLst>
                  <a:ext uri="{0D108BD9-81ED-4DB2-BD59-A6C34878D82A}">
                    <a16:rowId xmlns:a16="http://schemas.microsoft.com/office/drawing/2014/main" val="492132173"/>
                  </a:ext>
                </a:extLst>
              </a:tr>
              <a:tr h="304800">
                <a:tc>
                  <a:txBody>
                    <a:bodyPr/>
                    <a:lstStyle/>
                    <a:p>
                      <a:pPr algn="ctr"/>
                      <a:r>
                        <a:rPr lang="es-ES" sz="1400" dirty="0"/>
                        <a:t>30</a:t>
                      </a:r>
                    </a:p>
                  </a:txBody>
                  <a:tcPr/>
                </a:tc>
                <a:tc>
                  <a:txBody>
                    <a:bodyPr/>
                    <a:lstStyle/>
                    <a:p>
                      <a:pPr algn="ctr"/>
                      <a:r>
                        <a:rPr lang="es-ES" sz="1400" dirty="0"/>
                        <a:t>333</a:t>
                      </a:r>
                    </a:p>
                  </a:txBody>
                  <a:tcPr/>
                </a:tc>
                <a:extLst>
                  <a:ext uri="{0D108BD9-81ED-4DB2-BD59-A6C34878D82A}">
                    <a16:rowId xmlns:a16="http://schemas.microsoft.com/office/drawing/2014/main" val="2433612208"/>
                  </a:ext>
                </a:extLst>
              </a:tr>
              <a:tr h="304800">
                <a:tc>
                  <a:txBody>
                    <a:bodyPr/>
                    <a:lstStyle/>
                    <a:p>
                      <a:pPr algn="ctr"/>
                      <a:r>
                        <a:rPr lang="es-ES" sz="1400" dirty="0"/>
                        <a:t>40</a:t>
                      </a:r>
                    </a:p>
                  </a:txBody>
                  <a:tcPr/>
                </a:tc>
                <a:tc>
                  <a:txBody>
                    <a:bodyPr/>
                    <a:lstStyle/>
                    <a:p>
                      <a:pPr algn="ctr"/>
                      <a:r>
                        <a:rPr lang="es-ES" sz="1400" dirty="0"/>
                        <a:t>444</a:t>
                      </a:r>
                    </a:p>
                  </a:txBody>
                  <a:tcPr/>
                </a:tc>
                <a:extLst>
                  <a:ext uri="{0D108BD9-81ED-4DB2-BD59-A6C34878D82A}">
                    <a16:rowId xmlns:a16="http://schemas.microsoft.com/office/drawing/2014/main" val="1301384106"/>
                  </a:ext>
                </a:extLst>
              </a:tr>
            </a:tbl>
          </a:graphicData>
        </a:graphic>
      </p:graphicFrame>
      <p:sp>
        <p:nvSpPr>
          <p:cNvPr id="12" name="CuadroTexto 11">
            <a:extLst>
              <a:ext uri="{FF2B5EF4-FFF2-40B4-BE49-F238E27FC236}">
                <a16:creationId xmlns:a16="http://schemas.microsoft.com/office/drawing/2014/main" id="{3E8A5945-0BD3-1DA4-0BE3-ED527FCC305D}"/>
              </a:ext>
            </a:extLst>
          </p:cNvPr>
          <p:cNvSpPr txBox="1"/>
          <p:nvPr/>
        </p:nvSpPr>
        <p:spPr>
          <a:xfrm>
            <a:off x="6020464" y="3872204"/>
            <a:ext cx="1473490" cy="369332"/>
          </a:xfrm>
          <a:prstGeom prst="rect">
            <a:avLst/>
          </a:prstGeom>
          <a:noFill/>
        </p:spPr>
        <p:txBody>
          <a:bodyPr wrap="square" rtlCol="0">
            <a:spAutoFit/>
          </a:bodyPr>
          <a:lstStyle/>
          <a:p>
            <a:r>
              <a:rPr lang="es-ES" dirty="0"/>
              <a:t>Proveedor</a:t>
            </a:r>
          </a:p>
        </p:txBody>
      </p:sp>
    </p:spTree>
    <p:extLst>
      <p:ext uri="{BB962C8B-B14F-4D97-AF65-F5344CB8AC3E}">
        <p14:creationId xmlns:p14="http://schemas.microsoft.com/office/powerpoint/2010/main" val="412653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A4FA1E7-C35F-FA20-4CDD-F828F153881C}"/>
              </a:ext>
            </a:extLst>
          </p:cNvPr>
          <p:cNvSpPr>
            <a:spLocks noGrp="1"/>
          </p:cNvSpPr>
          <p:nvPr>
            <p:ph type="body" sz="quarter" idx="10"/>
          </p:nvPr>
        </p:nvSpPr>
        <p:spPr/>
        <p:txBody>
          <a:bodyPr>
            <a:normAutofit fontScale="92500" lnSpcReduction="10000"/>
          </a:bodyPr>
          <a:lstStyle/>
          <a:p>
            <a:r>
              <a:rPr lang="es-ES" dirty="0"/>
              <a:t>Resultado Final</a:t>
            </a:r>
          </a:p>
        </p:txBody>
      </p:sp>
      <p:sp>
        <p:nvSpPr>
          <p:cNvPr id="3" name="CuadroTexto 2">
            <a:extLst>
              <a:ext uri="{FF2B5EF4-FFF2-40B4-BE49-F238E27FC236}">
                <a16:creationId xmlns:a16="http://schemas.microsoft.com/office/drawing/2014/main" id="{FF002891-510B-20BA-F1B5-DA120737FD76}"/>
              </a:ext>
            </a:extLst>
          </p:cNvPr>
          <p:cNvSpPr txBox="1"/>
          <p:nvPr/>
        </p:nvSpPr>
        <p:spPr>
          <a:xfrm>
            <a:off x="1306286" y="1950098"/>
            <a:ext cx="9339943" cy="2862322"/>
          </a:xfrm>
          <a:prstGeom prst="rect">
            <a:avLst/>
          </a:prstGeom>
          <a:noFill/>
        </p:spPr>
        <p:txBody>
          <a:bodyPr wrap="square" rtlCol="0">
            <a:spAutoFit/>
          </a:bodyPr>
          <a:lstStyle/>
          <a:p>
            <a:r>
              <a:rPr lang="es-ES" dirty="0"/>
              <a:t>Hemos  normalizado un mal diseño de tablas, y lo hemos convertido a </a:t>
            </a:r>
            <a:r>
              <a:rPr lang="es-ES" b="1" dirty="0"/>
              <a:t>3FN</a:t>
            </a:r>
            <a:r>
              <a:rPr lang="es-ES" dirty="0"/>
              <a:t> dando como resultado:</a:t>
            </a:r>
          </a:p>
          <a:p>
            <a:endParaRPr lang="es-ES" dirty="0"/>
          </a:p>
          <a:p>
            <a:r>
              <a:rPr lang="es-ES" sz="1800" dirty="0"/>
              <a:t>Pedido(</a:t>
            </a:r>
            <a:r>
              <a:rPr lang="es-ES" sz="1800" b="0" i="0" u="sng" strike="noStrike" baseline="0" dirty="0" err="1">
                <a:solidFill>
                  <a:srgbClr val="000000"/>
                </a:solidFill>
                <a:latin typeface="Calibri" panose="020F0502020204030204" pitchFamily="34" charset="0"/>
              </a:rPr>
              <a:t>codPedido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fechaPedido</a:t>
            </a:r>
            <a:r>
              <a:rPr lang="es-ES" sz="1800" b="0" i="0" u="none" strike="noStrike" baseline="0" dirty="0">
                <a:solidFill>
                  <a:srgbClr val="000000"/>
                </a:solidFill>
                <a:latin typeface="Calibri" panose="020F0502020204030204" pitchFamily="34" charset="0"/>
              </a:rPr>
              <a:t>)</a:t>
            </a:r>
          </a:p>
          <a:p>
            <a:r>
              <a:rPr lang="es-ES" sz="1800" dirty="0" err="1">
                <a:solidFill>
                  <a:srgbClr val="000000"/>
                </a:solidFill>
                <a:latin typeface="Calibri" panose="020F0502020204030204" pitchFamily="34" charset="0"/>
              </a:rPr>
              <a:t>Lineas_Pedido</a:t>
            </a:r>
            <a:r>
              <a:rPr lang="es-ES" sz="1800" dirty="0">
                <a:solidFill>
                  <a:srgbClr val="000000"/>
                </a:solidFill>
                <a:latin typeface="Calibri" panose="020F0502020204030204" pitchFamily="34" charset="0"/>
              </a:rPr>
              <a:t>(</a:t>
            </a:r>
            <a:r>
              <a:rPr lang="es-ES" sz="1800" u="sng" dirty="0" err="1">
                <a:solidFill>
                  <a:srgbClr val="000000"/>
                </a:solidFill>
                <a:latin typeface="Calibri" panose="020F0502020204030204" pitchFamily="34" charset="0"/>
              </a:rPr>
              <a:t>codPedido</a:t>
            </a:r>
            <a:r>
              <a:rPr lang="es-ES" sz="1800" dirty="0">
                <a:solidFill>
                  <a:srgbClr val="000000"/>
                </a:solidFill>
                <a:latin typeface="Calibri" panose="020F0502020204030204" pitchFamily="34" charset="0"/>
              </a:rPr>
              <a:t> , </a:t>
            </a:r>
            <a:r>
              <a:rPr lang="es-ES" sz="1800" u="sng" dirty="0" err="1">
                <a:solidFill>
                  <a:srgbClr val="000000"/>
                </a:solidFill>
                <a:latin typeface="Calibri" panose="020F0502020204030204" pitchFamily="34" charset="0"/>
              </a:rPr>
              <a:t>codProducto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cantidadPedida</a:t>
            </a:r>
            <a:r>
              <a:rPr lang="es-ES" sz="1800" dirty="0">
                <a:solidFill>
                  <a:srgbClr val="000000"/>
                </a:solidFill>
                <a:latin typeface="Calibri" panose="020F0502020204030204" pitchFamily="34" charset="0"/>
              </a:rPr>
              <a:t>)</a:t>
            </a:r>
          </a:p>
          <a:p>
            <a:r>
              <a:rPr lang="es-ES" dirty="0">
                <a:solidFill>
                  <a:srgbClr val="000000"/>
                </a:solidFill>
                <a:latin typeface="Calibri" panose="020F0502020204030204" pitchFamily="34" charset="0"/>
              </a:rPr>
              <a:t>Producto(</a:t>
            </a:r>
            <a:r>
              <a:rPr lang="es-ES" u="sng" dirty="0" err="1">
                <a:solidFill>
                  <a:srgbClr val="000000"/>
                </a:solidFill>
                <a:latin typeface="Calibri" panose="020F0502020204030204" pitchFamily="34" charset="0"/>
              </a:rPr>
              <a:t>codProducto</a:t>
            </a:r>
            <a:r>
              <a:rPr lang="es-ES"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descProducto</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codProveedor</a:t>
            </a:r>
            <a:r>
              <a:rPr lang="es-ES" dirty="0">
                <a:solidFill>
                  <a:srgbClr val="000000"/>
                </a:solidFill>
                <a:latin typeface="Calibri" panose="020F0502020204030204" pitchFamily="34" charset="0"/>
              </a:rPr>
              <a:t>)</a:t>
            </a:r>
          </a:p>
          <a:p>
            <a:r>
              <a:rPr lang="es-ES" sz="1800" dirty="0">
                <a:solidFill>
                  <a:srgbClr val="000000"/>
                </a:solidFill>
                <a:latin typeface="Calibri" panose="020F0502020204030204" pitchFamily="34" charset="0"/>
              </a:rPr>
              <a:t>Proveedor(</a:t>
            </a:r>
            <a:r>
              <a:rPr lang="es-ES" sz="1800" u="sng" dirty="0" err="1">
                <a:solidFill>
                  <a:srgbClr val="000000"/>
                </a:solidFill>
                <a:latin typeface="Calibri" panose="020F0502020204030204" pitchFamily="34" charset="0"/>
              </a:rPr>
              <a:t>codProveedor</a:t>
            </a:r>
            <a:r>
              <a:rPr lang="es-ES" sz="1800" dirty="0">
                <a:solidFill>
                  <a:srgbClr val="000000"/>
                </a:solidFill>
                <a:latin typeface="Calibri" panose="020F0502020204030204" pitchFamily="34" charset="0"/>
              </a:rPr>
              <a:t>,</a:t>
            </a:r>
            <a:r>
              <a:rPr lang="es-ES" sz="1800" b="0" i="0" u="none" strike="noStrike" baseline="0" dirty="0">
                <a:solidFill>
                  <a:srgbClr val="000000"/>
                </a:solidFill>
                <a:latin typeface="Calibri" panose="020F0502020204030204" pitchFamily="34" charset="0"/>
              </a:rPr>
              <a:t> </a:t>
            </a:r>
            <a:r>
              <a:rPr lang="es-ES" sz="1800" b="0" i="0" u="none" strike="noStrike" baseline="0" dirty="0" err="1">
                <a:solidFill>
                  <a:srgbClr val="000000"/>
                </a:solidFill>
                <a:latin typeface="Calibri" panose="020F0502020204030204" pitchFamily="34" charset="0"/>
              </a:rPr>
              <a:t>telfProveedor</a:t>
            </a:r>
            <a:r>
              <a:rPr lang="es-ES" sz="1800" b="0" i="0" u="none" strike="noStrike" baseline="0" dirty="0">
                <a:solidFill>
                  <a:srgbClr val="000000"/>
                </a:solidFill>
                <a:latin typeface="Calibri" panose="020F0502020204030204" pitchFamily="34" charset="0"/>
              </a:rPr>
              <a:t>)</a:t>
            </a:r>
            <a:r>
              <a:rPr lang="es-ES" sz="1800" dirty="0">
                <a:solidFill>
                  <a:srgbClr val="000000"/>
                </a:solidFill>
                <a:latin typeface="Calibri" panose="020F0502020204030204" pitchFamily="34" charset="0"/>
              </a:rPr>
              <a:t> </a:t>
            </a:r>
          </a:p>
          <a:p>
            <a:endParaRPr lang="es-ES" sz="1800" dirty="0">
              <a:solidFill>
                <a:srgbClr val="000000"/>
              </a:solidFill>
              <a:latin typeface="Calibri" panose="020F0502020204030204" pitchFamily="34" charset="0"/>
            </a:endParaRPr>
          </a:p>
          <a:p>
            <a:endParaRPr lang="es-ES" dirty="0"/>
          </a:p>
          <a:p>
            <a:endParaRPr lang="es-ES" dirty="0"/>
          </a:p>
          <a:p>
            <a:r>
              <a:rPr lang="es-ES" dirty="0"/>
              <a:t> </a:t>
            </a:r>
          </a:p>
        </p:txBody>
      </p:sp>
      <p:graphicFrame>
        <p:nvGraphicFramePr>
          <p:cNvPr id="4" name="Tabla 5">
            <a:extLst>
              <a:ext uri="{FF2B5EF4-FFF2-40B4-BE49-F238E27FC236}">
                <a16:creationId xmlns:a16="http://schemas.microsoft.com/office/drawing/2014/main" id="{E0C0F901-ABB5-5F06-87C4-4F3E3591E291}"/>
              </a:ext>
            </a:extLst>
          </p:cNvPr>
          <p:cNvGraphicFramePr>
            <a:graphicFrameLocks noGrp="1"/>
          </p:cNvGraphicFramePr>
          <p:nvPr>
            <p:extLst>
              <p:ext uri="{D42A27DB-BD31-4B8C-83A1-F6EECF244321}">
                <p14:modId xmlns:p14="http://schemas.microsoft.com/office/powerpoint/2010/main" val="4294338055"/>
              </p:ext>
            </p:extLst>
          </p:nvPr>
        </p:nvGraphicFramePr>
        <p:xfrm>
          <a:off x="324401" y="4331546"/>
          <a:ext cx="2301968" cy="907466"/>
        </p:xfrm>
        <a:graphic>
          <a:graphicData uri="http://schemas.openxmlformats.org/drawingml/2006/table">
            <a:tbl>
              <a:tblPr firstRow="1" bandRow="1">
                <a:tableStyleId>{5C22544A-7EE6-4342-B048-85BDC9FD1C3A}</a:tableStyleId>
              </a:tblPr>
              <a:tblGrid>
                <a:gridCol w="1150984">
                  <a:extLst>
                    <a:ext uri="{9D8B030D-6E8A-4147-A177-3AD203B41FA5}">
                      <a16:colId xmlns:a16="http://schemas.microsoft.com/office/drawing/2014/main" val="1137179968"/>
                    </a:ext>
                  </a:extLst>
                </a:gridCol>
                <a:gridCol w="1150984">
                  <a:extLst>
                    <a:ext uri="{9D8B030D-6E8A-4147-A177-3AD203B41FA5}">
                      <a16:colId xmlns:a16="http://schemas.microsoft.com/office/drawing/2014/main" val="2999473289"/>
                    </a:ext>
                  </a:extLst>
                </a:gridCol>
              </a:tblGrid>
              <a:tr h="297866">
                <a:tc>
                  <a:txBody>
                    <a:bodyPr/>
                    <a:lstStyle/>
                    <a:p>
                      <a:pPr algn="ctr"/>
                      <a:r>
                        <a:rPr lang="es-ES" sz="1100" dirty="0" err="1"/>
                        <a:t>codPedido</a:t>
                      </a:r>
                      <a:endParaRPr lang="es-ES" sz="1100" dirty="0"/>
                    </a:p>
                  </a:txBody>
                  <a:tcPr/>
                </a:tc>
                <a:tc>
                  <a:txBody>
                    <a:bodyPr/>
                    <a:lstStyle/>
                    <a:p>
                      <a:pPr algn="ctr"/>
                      <a:r>
                        <a:rPr lang="es-ES" sz="1100" dirty="0" err="1"/>
                        <a:t>fechaPedido</a:t>
                      </a:r>
                      <a:endParaRPr lang="es-ES" sz="1100" dirty="0"/>
                    </a:p>
                  </a:txBody>
                  <a:tcPr/>
                </a:tc>
                <a:extLst>
                  <a:ext uri="{0D108BD9-81ED-4DB2-BD59-A6C34878D82A}">
                    <a16:rowId xmlns:a16="http://schemas.microsoft.com/office/drawing/2014/main" val="996223693"/>
                  </a:ext>
                </a:extLst>
              </a:tr>
              <a:tr h="297866">
                <a:tc>
                  <a:txBody>
                    <a:bodyPr/>
                    <a:lstStyle/>
                    <a:p>
                      <a:pPr algn="ctr"/>
                      <a:r>
                        <a:rPr lang="es-ES" sz="1400" dirty="0"/>
                        <a:t>001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12/02/21</a:t>
                      </a:r>
                    </a:p>
                  </a:txBody>
                  <a:tcPr/>
                </a:tc>
                <a:extLst>
                  <a:ext uri="{0D108BD9-81ED-4DB2-BD59-A6C34878D82A}">
                    <a16:rowId xmlns:a16="http://schemas.microsoft.com/office/drawing/2014/main" val="2005254072"/>
                  </a:ext>
                </a:extLst>
              </a:tr>
              <a:tr h="297866">
                <a:tc>
                  <a:txBody>
                    <a:bodyPr/>
                    <a:lstStyle/>
                    <a:p>
                      <a:pPr algn="ctr"/>
                      <a:r>
                        <a:rPr lang="es-ES" sz="1400" dirty="0"/>
                        <a:t>002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dirty="0"/>
                        <a:t>11/3/21</a:t>
                      </a:r>
                    </a:p>
                  </a:txBody>
                  <a:tcPr/>
                </a:tc>
                <a:extLst>
                  <a:ext uri="{0D108BD9-81ED-4DB2-BD59-A6C34878D82A}">
                    <a16:rowId xmlns:a16="http://schemas.microsoft.com/office/drawing/2014/main" val="2645790211"/>
                  </a:ext>
                </a:extLst>
              </a:tr>
            </a:tbl>
          </a:graphicData>
        </a:graphic>
      </p:graphicFrame>
      <p:graphicFrame>
        <p:nvGraphicFramePr>
          <p:cNvPr id="5" name="Tabla 6">
            <a:extLst>
              <a:ext uri="{FF2B5EF4-FFF2-40B4-BE49-F238E27FC236}">
                <a16:creationId xmlns:a16="http://schemas.microsoft.com/office/drawing/2014/main" id="{3E7806D3-9936-8A82-2F46-BCD48CBBD36B}"/>
              </a:ext>
            </a:extLst>
          </p:cNvPr>
          <p:cNvGraphicFramePr>
            <a:graphicFrameLocks noGrp="1"/>
          </p:cNvGraphicFramePr>
          <p:nvPr>
            <p:extLst>
              <p:ext uri="{D42A27DB-BD31-4B8C-83A1-F6EECF244321}">
                <p14:modId xmlns:p14="http://schemas.microsoft.com/office/powerpoint/2010/main" val="3682206632"/>
              </p:ext>
            </p:extLst>
          </p:nvPr>
        </p:nvGraphicFramePr>
        <p:xfrm>
          <a:off x="2812344" y="4326031"/>
          <a:ext cx="3355192" cy="1478280"/>
        </p:xfrm>
        <a:graphic>
          <a:graphicData uri="http://schemas.openxmlformats.org/drawingml/2006/table">
            <a:tbl>
              <a:tblPr firstRow="1" bandRow="1">
                <a:tableStyleId>{5C22544A-7EE6-4342-B048-85BDC9FD1C3A}</a:tableStyleId>
              </a:tblPr>
              <a:tblGrid>
                <a:gridCol w="1055899">
                  <a:extLst>
                    <a:ext uri="{9D8B030D-6E8A-4147-A177-3AD203B41FA5}">
                      <a16:colId xmlns:a16="http://schemas.microsoft.com/office/drawing/2014/main" val="2892788824"/>
                    </a:ext>
                  </a:extLst>
                </a:gridCol>
                <a:gridCol w="1135799">
                  <a:extLst>
                    <a:ext uri="{9D8B030D-6E8A-4147-A177-3AD203B41FA5}">
                      <a16:colId xmlns:a16="http://schemas.microsoft.com/office/drawing/2014/main" val="946409805"/>
                    </a:ext>
                  </a:extLst>
                </a:gridCol>
                <a:gridCol w="1163494">
                  <a:extLst>
                    <a:ext uri="{9D8B030D-6E8A-4147-A177-3AD203B41FA5}">
                      <a16:colId xmlns:a16="http://schemas.microsoft.com/office/drawing/2014/main" val="3780292349"/>
                    </a:ext>
                  </a:extLst>
                </a:gridCol>
              </a:tblGrid>
              <a:tr h="245569">
                <a:tc>
                  <a:txBody>
                    <a:bodyPr/>
                    <a:lstStyle/>
                    <a:p>
                      <a:r>
                        <a:rPr lang="es-ES" sz="1100" dirty="0" err="1"/>
                        <a:t>codPedido</a:t>
                      </a:r>
                      <a:endParaRPr lang="es-ES" sz="1100" dirty="0"/>
                    </a:p>
                  </a:txBody>
                  <a:tcPr/>
                </a:tc>
                <a:tc>
                  <a:txBody>
                    <a:bodyPr/>
                    <a:lstStyle/>
                    <a:p>
                      <a:r>
                        <a:rPr lang="es-ES" sz="1100" dirty="0" err="1"/>
                        <a:t>codProducto</a:t>
                      </a:r>
                      <a:endParaRPr lang="es-ES" sz="1100" dirty="0"/>
                    </a:p>
                  </a:txBody>
                  <a:tcPr/>
                </a:tc>
                <a:tc>
                  <a:txBody>
                    <a:bodyPr/>
                    <a:lstStyle/>
                    <a:p>
                      <a:r>
                        <a:rPr lang="es-ES" sz="1100" dirty="0" err="1"/>
                        <a:t>cantidadPedida</a:t>
                      </a:r>
                      <a:endParaRPr lang="es-ES" sz="1100" dirty="0"/>
                    </a:p>
                  </a:txBody>
                  <a:tcPr/>
                </a:tc>
                <a:extLst>
                  <a:ext uri="{0D108BD9-81ED-4DB2-BD59-A6C34878D82A}">
                    <a16:rowId xmlns:a16="http://schemas.microsoft.com/office/drawing/2014/main" val="2093092736"/>
                  </a:ext>
                </a:extLst>
              </a:tr>
              <a:tr h="245569">
                <a:tc>
                  <a:txBody>
                    <a:bodyPr/>
                    <a:lstStyle/>
                    <a:p>
                      <a:pPr algn="ctr"/>
                      <a:r>
                        <a:rPr lang="es-ES" sz="1400" dirty="0"/>
                        <a:t>001</a:t>
                      </a:r>
                    </a:p>
                  </a:txBody>
                  <a:tcPr/>
                </a:tc>
                <a:tc>
                  <a:txBody>
                    <a:bodyPr/>
                    <a:lstStyle/>
                    <a:p>
                      <a:pPr algn="ctr"/>
                      <a:r>
                        <a:rPr lang="es-ES" sz="1400" dirty="0"/>
                        <a:t>010</a:t>
                      </a:r>
                    </a:p>
                  </a:txBody>
                  <a:tcPr/>
                </a:tc>
                <a:tc>
                  <a:txBody>
                    <a:bodyPr/>
                    <a:lstStyle/>
                    <a:p>
                      <a:pPr algn="ctr"/>
                      <a:r>
                        <a:rPr lang="es-ES" sz="1400" dirty="0"/>
                        <a:t>5</a:t>
                      </a:r>
                    </a:p>
                  </a:txBody>
                  <a:tcPr/>
                </a:tc>
                <a:extLst>
                  <a:ext uri="{0D108BD9-81ED-4DB2-BD59-A6C34878D82A}">
                    <a16:rowId xmlns:a16="http://schemas.microsoft.com/office/drawing/2014/main" val="4229511804"/>
                  </a:ext>
                </a:extLst>
              </a:tr>
              <a:tr h="245569">
                <a:tc>
                  <a:txBody>
                    <a:bodyPr/>
                    <a:lstStyle/>
                    <a:p>
                      <a:pPr algn="ctr"/>
                      <a:r>
                        <a:rPr lang="es-ES" sz="1400" dirty="0"/>
                        <a:t>001</a:t>
                      </a:r>
                    </a:p>
                  </a:txBody>
                  <a:tcPr/>
                </a:tc>
                <a:tc>
                  <a:txBody>
                    <a:bodyPr/>
                    <a:lstStyle/>
                    <a:p>
                      <a:pPr algn="ctr"/>
                      <a:r>
                        <a:rPr lang="es-ES" sz="1400" dirty="0"/>
                        <a:t>020</a:t>
                      </a:r>
                    </a:p>
                  </a:txBody>
                  <a:tcPr/>
                </a:tc>
                <a:tc>
                  <a:txBody>
                    <a:bodyPr/>
                    <a:lstStyle/>
                    <a:p>
                      <a:pPr algn="ctr"/>
                      <a:r>
                        <a:rPr lang="es-ES" sz="1400" dirty="0"/>
                        <a:t>2</a:t>
                      </a:r>
                    </a:p>
                  </a:txBody>
                  <a:tcPr/>
                </a:tc>
                <a:extLst>
                  <a:ext uri="{0D108BD9-81ED-4DB2-BD59-A6C34878D82A}">
                    <a16:rowId xmlns:a16="http://schemas.microsoft.com/office/drawing/2014/main" val="4113967575"/>
                  </a:ext>
                </a:extLst>
              </a:tr>
              <a:tr h="245569">
                <a:tc>
                  <a:txBody>
                    <a:bodyPr/>
                    <a:lstStyle/>
                    <a:p>
                      <a:pPr algn="ctr"/>
                      <a:r>
                        <a:rPr lang="es-ES" sz="1400" dirty="0"/>
                        <a:t>002</a:t>
                      </a:r>
                    </a:p>
                  </a:txBody>
                  <a:tcPr/>
                </a:tc>
                <a:tc>
                  <a:txBody>
                    <a:bodyPr/>
                    <a:lstStyle/>
                    <a:p>
                      <a:pPr algn="ctr"/>
                      <a:r>
                        <a:rPr lang="es-ES" sz="1400" dirty="0"/>
                        <a:t>030</a:t>
                      </a:r>
                    </a:p>
                  </a:txBody>
                  <a:tcPr/>
                </a:tc>
                <a:tc>
                  <a:txBody>
                    <a:bodyPr/>
                    <a:lstStyle/>
                    <a:p>
                      <a:pPr algn="ctr"/>
                      <a:r>
                        <a:rPr lang="es-ES" sz="1400" dirty="0"/>
                        <a:t>6</a:t>
                      </a:r>
                    </a:p>
                  </a:txBody>
                  <a:tcPr/>
                </a:tc>
                <a:extLst>
                  <a:ext uri="{0D108BD9-81ED-4DB2-BD59-A6C34878D82A}">
                    <a16:rowId xmlns:a16="http://schemas.microsoft.com/office/drawing/2014/main" val="1830815900"/>
                  </a:ext>
                </a:extLst>
              </a:tr>
              <a:tr h="245569">
                <a:tc>
                  <a:txBody>
                    <a:bodyPr/>
                    <a:lstStyle/>
                    <a:p>
                      <a:pPr algn="ctr"/>
                      <a:r>
                        <a:rPr lang="es-ES" sz="1400" dirty="0"/>
                        <a:t>002</a:t>
                      </a:r>
                    </a:p>
                  </a:txBody>
                  <a:tcPr/>
                </a:tc>
                <a:tc>
                  <a:txBody>
                    <a:bodyPr/>
                    <a:lstStyle/>
                    <a:p>
                      <a:pPr algn="ctr"/>
                      <a:r>
                        <a:rPr lang="es-ES" sz="1400" dirty="0"/>
                        <a:t>040</a:t>
                      </a:r>
                    </a:p>
                  </a:txBody>
                  <a:tcPr/>
                </a:tc>
                <a:tc>
                  <a:txBody>
                    <a:bodyPr/>
                    <a:lstStyle/>
                    <a:p>
                      <a:pPr algn="ctr"/>
                      <a:r>
                        <a:rPr lang="es-ES" sz="1400" dirty="0"/>
                        <a:t>2</a:t>
                      </a:r>
                    </a:p>
                  </a:txBody>
                  <a:tcPr/>
                </a:tc>
                <a:extLst>
                  <a:ext uri="{0D108BD9-81ED-4DB2-BD59-A6C34878D82A}">
                    <a16:rowId xmlns:a16="http://schemas.microsoft.com/office/drawing/2014/main" val="498245384"/>
                  </a:ext>
                </a:extLst>
              </a:tr>
            </a:tbl>
          </a:graphicData>
        </a:graphic>
      </p:graphicFrame>
      <p:sp>
        <p:nvSpPr>
          <p:cNvPr id="6" name="CuadroTexto 5">
            <a:extLst>
              <a:ext uri="{FF2B5EF4-FFF2-40B4-BE49-F238E27FC236}">
                <a16:creationId xmlns:a16="http://schemas.microsoft.com/office/drawing/2014/main" id="{DE364A0A-899E-05C1-F0FD-96A4E76393D4}"/>
              </a:ext>
            </a:extLst>
          </p:cNvPr>
          <p:cNvSpPr txBox="1"/>
          <p:nvPr/>
        </p:nvSpPr>
        <p:spPr>
          <a:xfrm>
            <a:off x="994419" y="3924133"/>
            <a:ext cx="1787869" cy="369332"/>
          </a:xfrm>
          <a:prstGeom prst="rect">
            <a:avLst/>
          </a:prstGeom>
          <a:noFill/>
        </p:spPr>
        <p:txBody>
          <a:bodyPr wrap="square" rtlCol="0">
            <a:spAutoFit/>
          </a:bodyPr>
          <a:lstStyle/>
          <a:p>
            <a:r>
              <a:rPr lang="es-ES" dirty="0"/>
              <a:t>Pedido</a:t>
            </a:r>
          </a:p>
        </p:txBody>
      </p:sp>
      <p:sp>
        <p:nvSpPr>
          <p:cNvPr id="7" name="CuadroTexto 6">
            <a:extLst>
              <a:ext uri="{FF2B5EF4-FFF2-40B4-BE49-F238E27FC236}">
                <a16:creationId xmlns:a16="http://schemas.microsoft.com/office/drawing/2014/main" id="{562A00BF-6C1D-8920-B61F-136B0837B38C}"/>
              </a:ext>
            </a:extLst>
          </p:cNvPr>
          <p:cNvSpPr txBox="1"/>
          <p:nvPr/>
        </p:nvSpPr>
        <p:spPr>
          <a:xfrm>
            <a:off x="3523836" y="3903815"/>
            <a:ext cx="2126948" cy="369332"/>
          </a:xfrm>
          <a:prstGeom prst="rect">
            <a:avLst/>
          </a:prstGeom>
          <a:noFill/>
        </p:spPr>
        <p:txBody>
          <a:bodyPr wrap="square" rtlCol="0">
            <a:spAutoFit/>
          </a:bodyPr>
          <a:lstStyle/>
          <a:p>
            <a:r>
              <a:rPr lang="es-ES" dirty="0" err="1"/>
              <a:t>Lineas_Pedido</a:t>
            </a:r>
            <a:endParaRPr lang="es-ES" dirty="0"/>
          </a:p>
        </p:txBody>
      </p:sp>
      <p:graphicFrame>
        <p:nvGraphicFramePr>
          <p:cNvPr id="8" name="Tabla 7">
            <a:extLst>
              <a:ext uri="{FF2B5EF4-FFF2-40B4-BE49-F238E27FC236}">
                <a16:creationId xmlns:a16="http://schemas.microsoft.com/office/drawing/2014/main" id="{188AFFC5-32A2-DB8D-1D46-A04EB1C8EC38}"/>
              </a:ext>
            </a:extLst>
          </p:cNvPr>
          <p:cNvGraphicFramePr>
            <a:graphicFrameLocks noGrp="1"/>
          </p:cNvGraphicFramePr>
          <p:nvPr>
            <p:extLst>
              <p:ext uri="{D42A27DB-BD31-4B8C-83A1-F6EECF244321}">
                <p14:modId xmlns:p14="http://schemas.microsoft.com/office/powerpoint/2010/main" val="631805167"/>
              </p:ext>
            </p:extLst>
          </p:nvPr>
        </p:nvGraphicFramePr>
        <p:xfrm>
          <a:off x="6330734" y="4326031"/>
          <a:ext cx="3455295" cy="1524000"/>
        </p:xfrm>
        <a:graphic>
          <a:graphicData uri="http://schemas.openxmlformats.org/drawingml/2006/table">
            <a:tbl>
              <a:tblPr firstRow="1" bandRow="1">
                <a:tableStyleId>{5C22544A-7EE6-4342-B048-85BDC9FD1C3A}</a:tableStyleId>
              </a:tblPr>
              <a:tblGrid>
                <a:gridCol w="1271909">
                  <a:extLst>
                    <a:ext uri="{9D8B030D-6E8A-4147-A177-3AD203B41FA5}">
                      <a16:colId xmlns:a16="http://schemas.microsoft.com/office/drawing/2014/main" val="3355317728"/>
                    </a:ext>
                  </a:extLst>
                </a:gridCol>
                <a:gridCol w="1170449">
                  <a:extLst>
                    <a:ext uri="{9D8B030D-6E8A-4147-A177-3AD203B41FA5}">
                      <a16:colId xmlns:a16="http://schemas.microsoft.com/office/drawing/2014/main" val="3887787356"/>
                    </a:ext>
                  </a:extLst>
                </a:gridCol>
                <a:gridCol w="1012937">
                  <a:extLst>
                    <a:ext uri="{9D8B030D-6E8A-4147-A177-3AD203B41FA5}">
                      <a16:colId xmlns:a16="http://schemas.microsoft.com/office/drawing/2014/main" val="2069871450"/>
                    </a:ext>
                  </a:extLst>
                </a:gridCol>
              </a:tblGrid>
              <a:tr h="304800">
                <a:tc>
                  <a:txBody>
                    <a:bodyPr/>
                    <a:lstStyle/>
                    <a:p>
                      <a:r>
                        <a:rPr lang="es-ES" sz="1100" dirty="0" err="1"/>
                        <a:t>codProducto</a:t>
                      </a:r>
                      <a:endParaRPr lang="es-ES" sz="1100" dirty="0"/>
                    </a:p>
                  </a:txBody>
                  <a:tcPr/>
                </a:tc>
                <a:tc>
                  <a:txBody>
                    <a:bodyPr/>
                    <a:lstStyle/>
                    <a:p>
                      <a:r>
                        <a:rPr lang="es-ES" sz="1100" dirty="0" err="1"/>
                        <a:t>descProducto</a:t>
                      </a:r>
                      <a:endParaRPr lang="es-ES" sz="1100" dirty="0"/>
                    </a:p>
                  </a:txBody>
                  <a:tcPr/>
                </a:tc>
                <a:tc>
                  <a:txBody>
                    <a:bodyPr/>
                    <a:lstStyle/>
                    <a:p>
                      <a:r>
                        <a:rPr lang="es-ES" sz="1100" dirty="0" err="1"/>
                        <a:t>codProveedor</a:t>
                      </a:r>
                      <a:endParaRPr lang="es-ES" sz="1100" dirty="0"/>
                    </a:p>
                  </a:txBody>
                  <a:tcPr/>
                </a:tc>
                <a:extLst>
                  <a:ext uri="{0D108BD9-81ED-4DB2-BD59-A6C34878D82A}">
                    <a16:rowId xmlns:a16="http://schemas.microsoft.com/office/drawing/2014/main" val="3063186333"/>
                  </a:ext>
                </a:extLst>
              </a:tr>
              <a:tr h="304800">
                <a:tc>
                  <a:txBody>
                    <a:bodyPr/>
                    <a:lstStyle/>
                    <a:p>
                      <a:pPr algn="ctr"/>
                      <a:r>
                        <a:rPr lang="es-ES" sz="1400" dirty="0"/>
                        <a:t>010</a:t>
                      </a:r>
                    </a:p>
                  </a:txBody>
                  <a:tcPr/>
                </a:tc>
                <a:tc>
                  <a:txBody>
                    <a:bodyPr/>
                    <a:lstStyle/>
                    <a:p>
                      <a:pPr algn="ctr"/>
                      <a:r>
                        <a:rPr lang="es-ES" sz="1400" dirty="0"/>
                        <a:t>Galletas</a:t>
                      </a:r>
                    </a:p>
                  </a:txBody>
                  <a:tcPr/>
                </a:tc>
                <a:tc>
                  <a:txBody>
                    <a:bodyPr/>
                    <a:lstStyle/>
                    <a:p>
                      <a:pPr algn="ctr"/>
                      <a:r>
                        <a:rPr lang="es-ES" sz="1400" dirty="0"/>
                        <a:t>10</a:t>
                      </a:r>
                    </a:p>
                  </a:txBody>
                  <a:tcPr/>
                </a:tc>
                <a:extLst>
                  <a:ext uri="{0D108BD9-81ED-4DB2-BD59-A6C34878D82A}">
                    <a16:rowId xmlns:a16="http://schemas.microsoft.com/office/drawing/2014/main" val="296140447"/>
                  </a:ext>
                </a:extLst>
              </a:tr>
              <a:tr h="304800">
                <a:tc>
                  <a:txBody>
                    <a:bodyPr/>
                    <a:lstStyle/>
                    <a:p>
                      <a:pPr algn="ctr"/>
                      <a:r>
                        <a:rPr lang="es-ES" sz="1400" dirty="0"/>
                        <a:t>020</a:t>
                      </a:r>
                    </a:p>
                  </a:txBody>
                  <a:tcPr/>
                </a:tc>
                <a:tc>
                  <a:txBody>
                    <a:bodyPr/>
                    <a:lstStyle/>
                    <a:p>
                      <a:pPr algn="ctr"/>
                      <a:r>
                        <a:rPr lang="es-ES" sz="1400" dirty="0"/>
                        <a:t>Zumo</a:t>
                      </a:r>
                    </a:p>
                  </a:txBody>
                  <a:tcPr/>
                </a:tc>
                <a:tc>
                  <a:txBody>
                    <a:bodyPr/>
                    <a:lstStyle/>
                    <a:p>
                      <a:pPr algn="ctr"/>
                      <a:r>
                        <a:rPr lang="es-ES" sz="1400" dirty="0"/>
                        <a:t>20</a:t>
                      </a:r>
                    </a:p>
                  </a:txBody>
                  <a:tcPr/>
                </a:tc>
                <a:extLst>
                  <a:ext uri="{0D108BD9-81ED-4DB2-BD59-A6C34878D82A}">
                    <a16:rowId xmlns:a16="http://schemas.microsoft.com/office/drawing/2014/main" val="492132173"/>
                  </a:ext>
                </a:extLst>
              </a:tr>
              <a:tr h="304800">
                <a:tc>
                  <a:txBody>
                    <a:bodyPr/>
                    <a:lstStyle/>
                    <a:p>
                      <a:pPr algn="ctr"/>
                      <a:r>
                        <a:rPr lang="es-ES" sz="1400" dirty="0"/>
                        <a:t>030</a:t>
                      </a:r>
                    </a:p>
                  </a:txBody>
                  <a:tcPr/>
                </a:tc>
                <a:tc>
                  <a:txBody>
                    <a:bodyPr/>
                    <a:lstStyle/>
                    <a:p>
                      <a:pPr algn="ctr"/>
                      <a:r>
                        <a:rPr lang="es-ES" sz="1400" dirty="0"/>
                        <a:t>Detergente</a:t>
                      </a:r>
                    </a:p>
                  </a:txBody>
                  <a:tcPr/>
                </a:tc>
                <a:tc>
                  <a:txBody>
                    <a:bodyPr/>
                    <a:lstStyle/>
                    <a:p>
                      <a:pPr algn="ctr"/>
                      <a:r>
                        <a:rPr lang="es-ES" sz="1400" dirty="0"/>
                        <a:t>30</a:t>
                      </a:r>
                    </a:p>
                  </a:txBody>
                  <a:tcPr/>
                </a:tc>
                <a:extLst>
                  <a:ext uri="{0D108BD9-81ED-4DB2-BD59-A6C34878D82A}">
                    <a16:rowId xmlns:a16="http://schemas.microsoft.com/office/drawing/2014/main" val="2433612208"/>
                  </a:ext>
                </a:extLst>
              </a:tr>
              <a:tr h="304800">
                <a:tc>
                  <a:txBody>
                    <a:bodyPr/>
                    <a:lstStyle/>
                    <a:p>
                      <a:pPr algn="ctr"/>
                      <a:r>
                        <a:rPr lang="es-ES" sz="1400" dirty="0"/>
                        <a:t>040</a:t>
                      </a:r>
                    </a:p>
                  </a:txBody>
                  <a:tcPr/>
                </a:tc>
                <a:tc>
                  <a:txBody>
                    <a:bodyPr/>
                    <a:lstStyle/>
                    <a:p>
                      <a:pPr algn="ctr"/>
                      <a:r>
                        <a:rPr lang="es-ES" sz="1400" dirty="0"/>
                        <a:t>Vino</a:t>
                      </a:r>
                    </a:p>
                  </a:txBody>
                  <a:tcPr/>
                </a:tc>
                <a:tc>
                  <a:txBody>
                    <a:bodyPr/>
                    <a:lstStyle/>
                    <a:p>
                      <a:pPr algn="ctr"/>
                      <a:r>
                        <a:rPr lang="es-ES" sz="1400" dirty="0"/>
                        <a:t>40</a:t>
                      </a:r>
                    </a:p>
                  </a:txBody>
                  <a:tcPr/>
                </a:tc>
                <a:extLst>
                  <a:ext uri="{0D108BD9-81ED-4DB2-BD59-A6C34878D82A}">
                    <a16:rowId xmlns:a16="http://schemas.microsoft.com/office/drawing/2014/main" val="1301384106"/>
                  </a:ext>
                </a:extLst>
              </a:tr>
            </a:tbl>
          </a:graphicData>
        </a:graphic>
      </p:graphicFrame>
      <p:graphicFrame>
        <p:nvGraphicFramePr>
          <p:cNvPr id="9" name="Tabla 8">
            <a:extLst>
              <a:ext uri="{FF2B5EF4-FFF2-40B4-BE49-F238E27FC236}">
                <a16:creationId xmlns:a16="http://schemas.microsoft.com/office/drawing/2014/main" id="{8005A3BE-2F32-BACA-4ED3-04306CA3FB4C}"/>
              </a:ext>
            </a:extLst>
          </p:cNvPr>
          <p:cNvGraphicFramePr>
            <a:graphicFrameLocks noGrp="1"/>
          </p:cNvGraphicFramePr>
          <p:nvPr>
            <p:extLst>
              <p:ext uri="{D42A27DB-BD31-4B8C-83A1-F6EECF244321}">
                <p14:modId xmlns:p14="http://schemas.microsoft.com/office/powerpoint/2010/main" val="2303436101"/>
              </p:ext>
            </p:extLst>
          </p:nvPr>
        </p:nvGraphicFramePr>
        <p:xfrm>
          <a:off x="9949228" y="4326031"/>
          <a:ext cx="2203058" cy="1478280"/>
        </p:xfrm>
        <a:graphic>
          <a:graphicData uri="http://schemas.openxmlformats.org/drawingml/2006/table">
            <a:tbl>
              <a:tblPr firstRow="1" bandRow="1">
                <a:tableStyleId>{5C22544A-7EE6-4342-B048-85BDC9FD1C3A}</a:tableStyleId>
              </a:tblPr>
              <a:tblGrid>
                <a:gridCol w="1013264">
                  <a:extLst>
                    <a:ext uri="{9D8B030D-6E8A-4147-A177-3AD203B41FA5}">
                      <a16:colId xmlns:a16="http://schemas.microsoft.com/office/drawing/2014/main" val="2069871450"/>
                    </a:ext>
                  </a:extLst>
                </a:gridCol>
                <a:gridCol w="1189794">
                  <a:extLst>
                    <a:ext uri="{9D8B030D-6E8A-4147-A177-3AD203B41FA5}">
                      <a16:colId xmlns:a16="http://schemas.microsoft.com/office/drawing/2014/main" val="4016348694"/>
                    </a:ext>
                  </a:extLst>
                </a:gridCol>
              </a:tblGrid>
              <a:tr h="192303">
                <a:tc>
                  <a:txBody>
                    <a:bodyPr/>
                    <a:lstStyle/>
                    <a:p>
                      <a:r>
                        <a:rPr lang="es-ES" sz="1100" dirty="0" err="1"/>
                        <a:t>codProveedor</a:t>
                      </a:r>
                      <a:endParaRPr lang="es-ES" sz="1100" dirty="0"/>
                    </a:p>
                  </a:txBody>
                  <a:tcPr/>
                </a:tc>
                <a:tc>
                  <a:txBody>
                    <a:bodyPr/>
                    <a:lstStyle/>
                    <a:p>
                      <a:r>
                        <a:rPr lang="es-ES" sz="1100" dirty="0" err="1"/>
                        <a:t>telfProveedor</a:t>
                      </a:r>
                      <a:endParaRPr lang="es-ES" sz="1100" dirty="0"/>
                    </a:p>
                  </a:txBody>
                  <a:tcPr/>
                </a:tc>
                <a:extLst>
                  <a:ext uri="{0D108BD9-81ED-4DB2-BD59-A6C34878D82A}">
                    <a16:rowId xmlns:a16="http://schemas.microsoft.com/office/drawing/2014/main" val="3063186333"/>
                  </a:ext>
                </a:extLst>
              </a:tr>
              <a:tr h="304800">
                <a:tc>
                  <a:txBody>
                    <a:bodyPr/>
                    <a:lstStyle/>
                    <a:p>
                      <a:pPr algn="ctr"/>
                      <a:r>
                        <a:rPr lang="es-ES" sz="1400" dirty="0"/>
                        <a:t>10</a:t>
                      </a:r>
                    </a:p>
                  </a:txBody>
                  <a:tcPr/>
                </a:tc>
                <a:tc>
                  <a:txBody>
                    <a:bodyPr/>
                    <a:lstStyle/>
                    <a:p>
                      <a:pPr algn="ctr"/>
                      <a:r>
                        <a:rPr lang="es-ES" sz="1400" dirty="0"/>
                        <a:t>111</a:t>
                      </a:r>
                    </a:p>
                  </a:txBody>
                  <a:tcPr/>
                </a:tc>
                <a:extLst>
                  <a:ext uri="{0D108BD9-81ED-4DB2-BD59-A6C34878D82A}">
                    <a16:rowId xmlns:a16="http://schemas.microsoft.com/office/drawing/2014/main" val="296140447"/>
                  </a:ext>
                </a:extLst>
              </a:tr>
              <a:tr h="304800">
                <a:tc>
                  <a:txBody>
                    <a:bodyPr/>
                    <a:lstStyle/>
                    <a:p>
                      <a:pPr algn="ctr"/>
                      <a:r>
                        <a:rPr lang="es-ES" sz="1400" dirty="0"/>
                        <a:t>20</a:t>
                      </a:r>
                    </a:p>
                  </a:txBody>
                  <a:tcPr/>
                </a:tc>
                <a:tc>
                  <a:txBody>
                    <a:bodyPr/>
                    <a:lstStyle/>
                    <a:p>
                      <a:pPr algn="ctr"/>
                      <a:r>
                        <a:rPr lang="es-ES" sz="1400" dirty="0"/>
                        <a:t>222</a:t>
                      </a:r>
                    </a:p>
                  </a:txBody>
                  <a:tcPr/>
                </a:tc>
                <a:extLst>
                  <a:ext uri="{0D108BD9-81ED-4DB2-BD59-A6C34878D82A}">
                    <a16:rowId xmlns:a16="http://schemas.microsoft.com/office/drawing/2014/main" val="492132173"/>
                  </a:ext>
                </a:extLst>
              </a:tr>
              <a:tr h="304800">
                <a:tc>
                  <a:txBody>
                    <a:bodyPr/>
                    <a:lstStyle/>
                    <a:p>
                      <a:pPr algn="ctr"/>
                      <a:r>
                        <a:rPr lang="es-ES" sz="1400" dirty="0"/>
                        <a:t>30</a:t>
                      </a:r>
                    </a:p>
                  </a:txBody>
                  <a:tcPr/>
                </a:tc>
                <a:tc>
                  <a:txBody>
                    <a:bodyPr/>
                    <a:lstStyle/>
                    <a:p>
                      <a:pPr algn="ctr"/>
                      <a:r>
                        <a:rPr lang="es-ES" sz="1400" dirty="0"/>
                        <a:t>333</a:t>
                      </a:r>
                    </a:p>
                  </a:txBody>
                  <a:tcPr/>
                </a:tc>
                <a:extLst>
                  <a:ext uri="{0D108BD9-81ED-4DB2-BD59-A6C34878D82A}">
                    <a16:rowId xmlns:a16="http://schemas.microsoft.com/office/drawing/2014/main" val="2433612208"/>
                  </a:ext>
                </a:extLst>
              </a:tr>
              <a:tr h="304800">
                <a:tc>
                  <a:txBody>
                    <a:bodyPr/>
                    <a:lstStyle/>
                    <a:p>
                      <a:pPr algn="ctr"/>
                      <a:r>
                        <a:rPr lang="es-ES" sz="1400" dirty="0"/>
                        <a:t>40</a:t>
                      </a:r>
                    </a:p>
                  </a:txBody>
                  <a:tcPr/>
                </a:tc>
                <a:tc>
                  <a:txBody>
                    <a:bodyPr/>
                    <a:lstStyle/>
                    <a:p>
                      <a:pPr algn="ctr"/>
                      <a:r>
                        <a:rPr lang="es-ES" sz="1400" dirty="0"/>
                        <a:t>444</a:t>
                      </a:r>
                    </a:p>
                  </a:txBody>
                  <a:tcPr/>
                </a:tc>
                <a:extLst>
                  <a:ext uri="{0D108BD9-81ED-4DB2-BD59-A6C34878D82A}">
                    <a16:rowId xmlns:a16="http://schemas.microsoft.com/office/drawing/2014/main" val="1301384106"/>
                  </a:ext>
                </a:extLst>
              </a:tr>
            </a:tbl>
          </a:graphicData>
        </a:graphic>
      </p:graphicFrame>
      <p:sp>
        <p:nvSpPr>
          <p:cNvPr id="10" name="CuadroTexto 9">
            <a:extLst>
              <a:ext uri="{FF2B5EF4-FFF2-40B4-BE49-F238E27FC236}">
                <a16:creationId xmlns:a16="http://schemas.microsoft.com/office/drawing/2014/main" id="{7A73B999-51F5-3498-9496-C1C14E2A7490}"/>
              </a:ext>
            </a:extLst>
          </p:cNvPr>
          <p:cNvSpPr txBox="1"/>
          <p:nvPr/>
        </p:nvSpPr>
        <p:spPr>
          <a:xfrm>
            <a:off x="10532289" y="3927752"/>
            <a:ext cx="1473490" cy="369332"/>
          </a:xfrm>
          <a:prstGeom prst="rect">
            <a:avLst/>
          </a:prstGeom>
          <a:noFill/>
        </p:spPr>
        <p:txBody>
          <a:bodyPr wrap="square" rtlCol="0">
            <a:spAutoFit/>
          </a:bodyPr>
          <a:lstStyle/>
          <a:p>
            <a:r>
              <a:rPr lang="es-ES" dirty="0"/>
              <a:t>Proveedor</a:t>
            </a:r>
          </a:p>
        </p:txBody>
      </p:sp>
      <p:sp>
        <p:nvSpPr>
          <p:cNvPr id="12" name="CuadroTexto 11">
            <a:extLst>
              <a:ext uri="{FF2B5EF4-FFF2-40B4-BE49-F238E27FC236}">
                <a16:creationId xmlns:a16="http://schemas.microsoft.com/office/drawing/2014/main" id="{3171B941-598C-3D7F-8ADD-D657D4DFD1F2}"/>
              </a:ext>
            </a:extLst>
          </p:cNvPr>
          <p:cNvSpPr txBox="1"/>
          <p:nvPr/>
        </p:nvSpPr>
        <p:spPr>
          <a:xfrm>
            <a:off x="7303168" y="3952125"/>
            <a:ext cx="1878983" cy="369332"/>
          </a:xfrm>
          <a:prstGeom prst="rect">
            <a:avLst/>
          </a:prstGeom>
          <a:noFill/>
        </p:spPr>
        <p:txBody>
          <a:bodyPr wrap="square" rtlCol="0">
            <a:spAutoFit/>
          </a:bodyPr>
          <a:lstStyle/>
          <a:p>
            <a:r>
              <a:rPr lang="es-ES" dirty="0"/>
              <a:t>Producto</a:t>
            </a:r>
          </a:p>
        </p:txBody>
      </p:sp>
    </p:spTree>
    <p:extLst>
      <p:ext uri="{BB962C8B-B14F-4D97-AF65-F5344CB8AC3E}">
        <p14:creationId xmlns:p14="http://schemas.microsoft.com/office/powerpoint/2010/main" val="4225382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722BB02-34E3-A2FC-E55C-EB77E57EBE50}"/>
              </a:ext>
            </a:extLst>
          </p:cNvPr>
          <p:cNvSpPr>
            <a:spLocks noGrp="1"/>
          </p:cNvSpPr>
          <p:nvPr>
            <p:ph type="body" sz="quarter" idx="10"/>
          </p:nvPr>
        </p:nvSpPr>
        <p:spPr/>
        <p:txBody>
          <a:bodyPr>
            <a:normAutofit fontScale="92500" lnSpcReduction="10000"/>
          </a:bodyPr>
          <a:lstStyle/>
          <a:p>
            <a:r>
              <a:rPr lang="es-ES" dirty="0"/>
              <a:t>Ejercicio Teoría 1</a:t>
            </a:r>
          </a:p>
        </p:txBody>
      </p:sp>
    </p:spTree>
    <p:extLst>
      <p:ext uri="{BB962C8B-B14F-4D97-AF65-F5344CB8AC3E}">
        <p14:creationId xmlns:p14="http://schemas.microsoft.com/office/powerpoint/2010/main" val="3211860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8CE2D62-1F3E-0FDB-ED9E-F094CF885CB8}"/>
              </a:ext>
            </a:extLst>
          </p:cNvPr>
          <p:cNvSpPr>
            <a:spLocks noGrp="1"/>
          </p:cNvSpPr>
          <p:nvPr>
            <p:ph type="body" sz="quarter" idx="10"/>
          </p:nvPr>
        </p:nvSpPr>
        <p:spPr/>
        <p:txBody>
          <a:bodyPr>
            <a:normAutofit fontScale="92500" lnSpcReduction="10000"/>
          </a:bodyPr>
          <a:lstStyle/>
          <a:p>
            <a:r>
              <a:rPr lang="es-ES" dirty="0"/>
              <a:t>Ejercicio Teoría 2</a:t>
            </a:r>
          </a:p>
        </p:txBody>
      </p:sp>
      <p:sp>
        <p:nvSpPr>
          <p:cNvPr id="3" name="CuadroTexto 2">
            <a:extLst>
              <a:ext uri="{FF2B5EF4-FFF2-40B4-BE49-F238E27FC236}">
                <a16:creationId xmlns:a16="http://schemas.microsoft.com/office/drawing/2014/main" id="{9EAAFAED-B2B3-F7EF-3EB5-0D531FEB7F36}"/>
              </a:ext>
            </a:extLst>
          </p:cNvPr>
          <p:cNvSpPr txBox="1"/>
          <p:nvPr/>
        </p:nvSpPr>
        <p:spPr>
          <a:xfrm>
            <a:off x="390144" y="1956816"/>
            <a:ext cx="9674352" cy="646331"/>
          </a:xfrm>
          <a:prstGeom prst="rect">
            <a:avLst/>
          </a:prstGeom>
          <a:noFill/>
        </p:spPr>
        <p:txBody>
          <a:bodyPr wrap="square" rtlCol="0">
            <a:spAutoFit/>
          </a:bodyPr>
          <a:lstStyle/>
          <a:p>
            <a:endParaRPr lang="es-ES" dirty="0"/>
          </a:p>
          <a:p>
            <a:endParaRPr lang="es-ES" dirty="0"/>
          </a:p>
        </p:txBody>
      </p:sp>
    </p:spTree>
    <p:extLst>
      <p:ext uri="{BB962C8B-B14F-4D97-AF65-F5344CB8AC3E}">
        <p14:creationId xmlns:p14="http://schemas.microsoft.com/office/powerpoint/2010/main" val="4048203717"/>
      </p:ext>
    </p:extLst>
  </p:cSld>
  <p:clrMapOvr>
    <a:masterClrMapping/>
  </p:clrMapOvr>
</p:sld>
</file>

<file path=ppt/theme/theme1.xml><?xml version="1.0" encoding="utf-8"?>
<a:theme xmlns:a="http://schemas.openxmlformats.org/drawingml/2006/main" name="Contents Slide Master">
  <a:themeElements>
    <a:clrScheme name="ALLPPT-403">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5685128A34C97F47AA60874EC6BBD152" ma:contentTypeVersion="6" ma:contentTypeDescription="Crear nuevo documento." ma:contentTypeScope="" ma:versionID="0f024d3cd75ecf5c3f929ca9674ceb4e">
  <xsd:schema xmlns:xsd="http://www.w3.org/2001/XMLSchema" xmlns:xs="http://www.w3.org/2001/XMLSchema" xmlns:p="http://schemas.microsoft.com/office/2006/metadata/properties" xmlns:ns2="d9973ef5-a2f7-445b-9318-0a9459b0454d" xmlns:ns3="a7cd916d-81d2-419b-b004-80db6e7288aa" targetNamespace="http://schemas.microsoft.com/office/2006/metadata/properties" ma:root="true" ma:fieldsID="36e2535e959e932fce58676682a40d0b" ns2:_="" ns3:_="">
    <xsd:import namespace="d9973ef5-a2f7-445b-9318-0a9459b0454d"/>
    <xsd:import namespace="a7cd916d-81d2-419b-b004-80db6e7288a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973ef5-a2f7-445b-9318-0a9459b04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cd916d-81d2-419b-b004-80db6e7288aa"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B4E66B-8100-4B76-B0FD-2B1E8D58CE2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EABBD60-03B4-47DF-8FED-529B4E6427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973ef5-a2f7-445b-9318-0a9459b0454d"/>
    <ds:schemaRef ds:uri="a7cd916d-81d2-419b-b004-80db6e7288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14E9A2-4A89-44AD-BF1A-C2B7018D7C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3882</TotalTime>
  <Words>1724</Words>
  <Application>Microsoft Office PowerPoint</Application>
  <PresentationFormat>Panorámica</PresentationFormat>
  <Paragraphs>329</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3</vt:i4>
      </vt:variant>
      <vt:variant>
        <vt:lpstr>Títulos de diapositiva</vt:lpstr>
      </vt:variant>
      <vt:variant>
        <vt:i4>20</vt:i4>
      </vt:variant>
    </vt:vector>
  </HeadingPairs>
  <TitlesOfParts>
    <vt:vector size="26" baseType="lpstr">
      <vt:lpstr>Arial</vt:lpstr>
      <vt:lpstr>Calibri</vt:lpstr>
      <vt:lpstr>Calibri Light</vt:lpstr>
      <vt:lpstr>Contents Slide Master</vt:lpstr>
      <vt:lpstr>Section Break Slide Master</vt:lpstr>
      <vt:lpstr>Retrospección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David Prado</cp:lastModifiedBy>
  <cp:revision>202</cp:revision>
  <dcterms:created xsi:type="dcterms:W3CDTF">2020-01-20T05:08:25Z</dcterms:created>
  <dcterms:modified xsi:type="dcterms:W3CDTF">2022-11-03T14:49:09Z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0x0101005685128A34C97F47AA60874EC6BBD152</vt:lpwstr>
  </property>
</Properties>
</file>